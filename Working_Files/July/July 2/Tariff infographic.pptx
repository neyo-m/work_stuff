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T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DFDDC-62D7-0B5C-007F-A14AEF147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88356-1121-6886-A744-B0F3BFE43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E63F8-20C8-E64E-7051-CC6A13ED2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D1F66-2E32-EFA0-DF6D-522FE1BAA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02F4C-0981-8AB5-0970-FDF1704C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4051919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A53C-9FCD-4C3F-CA0C-37376A6F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79C88-CDE8-50E5-C0B4-E621AEF19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EE374-78D0-4F98-CA26-CBB7BD0F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B608A-43FE-FBC4-B530-5989E9D9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D70-03F0-EF41-7892-25322C64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212468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74C4-81F6-E9B9-0A90-2B6ADB003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F40C8-D56D-5EAE-0DBD-4078A1A61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77026-F799-50D0-56D6-89F0C0EC3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589C0-519C-C29D-C0E8-005C3A35E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EC12A-20C7-05C2-4AE1-DF9292651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806882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EC9E-915E-590E-A28D-763ED3F8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36DEF-5954-1061-0BD6-D3ACBCD12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983C4-2ED5-9701-7EBA-FE2C57939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F44D9-0A92-7ACE-31DC-B4D54C3AE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910B8-8280-4E02-57E5-3349BC4CC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126AD-C31C-07C7-B66A-E56ECB10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42489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D860-8D3B-58D2-4287-A4004475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F5798-5FA4-BBAC-DDDA-224338A01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FBC4B-EE73-B1C1-BB91-77E91284E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4F143-848B-97E5-AC9D-D02A02631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49A526-2331-45CF-A652-16CFB2A84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7D5EA-BBF5-9A4E-CE03-2FC8933C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074B7C-0363-0BF5-2865-73633659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D132A-F553-9A26-812C-9C93079D1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50566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6746-E05B-3A55-47F4-B33C4233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0FC82-2F0C-D013-C5BF-5EDC4D629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0C791-26E5-EF42-3F1C-AF5C3ECE0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D6EA6-9049-9F67-4795-1F2B3E9B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924669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FC6D0-D7DC-B757-A091-05946805C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060A3-4F18-91F0-BE86-EC507C26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C6DAE-C824-23F6-5777-F418E1D52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825571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66F8-D824-B066-9B75-F33A73A5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149F5-B4F7-CE7F-E581-134B35304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531C4-8601-C6ED-8F8C-3DA90667C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7BE38-B43A-EB12-09E2-46AFEF78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5E813-9222-2ECF-0A7D-1B752A19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68F3C-2E44-0878-37A9-F9E174C9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223921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F162-CD14-5176-4E2B-76FCBA89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36C3A5-D6F4-A422-3E42-DBBF7A3C4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F94FE-9719-E654-E394-3A9A2C5DA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546E3-5C64-ED53-94B0-DAB9C87D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71C71-4580-0A2E-9DAE-52CD15A3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B1BBD-4CD4-42FA-CD4B-1B7C9D99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1124496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CCC8-07B4-12DE-4FD2-688EBCA08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BE33B-C70F-FE43-5FCB-2CBFFC194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9DBDE-B5EA-1E93-6C55-F0E90526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C62CD-1981-8458-B277-9F6D6A65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5B2EA-1993-69C6-126B-608DFA93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34545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21D708-AACA-2E47-FA96-BB798D360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B000C2-9389-461F-753F-1642E3CA9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41AC3-5BED-8279-38BA-93100B64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E5CFB-2405-BD00-F617-D5316831B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6F8E1-AFE9-0887-3172-61D31105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166940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147D48-196E-9931-6336-0AB12AA1E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19B22-23C3-2F25-B545-FCFC1C04C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421BF-0D86-FD6F-8391-B8E01535C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8CB4A-65D3-492A-9A23-EAD0342B849F}" type="datetimeFigureOut">
              <a:rPr lang="en-TO" smtClean="0"/>
              <a:t>01/07/2026</a:t>
            </a:fld>
            <a:endParaRPr lang="en-T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1C887-578F-371A-ABE8-CBE04A7B8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E5B47-3EF5-2C1B-FDB8-3B6C3E347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8B6B7-224B-4D69-BC80-2B5A5A3BEB99}" type="slidenum">
              <a:rPr lang="en-TO" smtClean="0"/>
              <a:t>‹#›</a:t>
            </a:fld>
            <a:endParaRPr lang="en-TO"/>
          </a:p>
        </p:txBody>
      </p:sp>
    </p:spTree>
    <p:extLst>
      <p:ext uri="{BB962C8B-B14F-4D97-AF65-F5344CB8AC3E}">
        <p14:creationId xmlns:p14="http://schemas.microsoft.com/office/powerpoint/2010/main" val="30730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4ED1EACE-EDB3-C949-6662-440DBF35A012}"/>
              </a:ext>
            </a:extLst>
          </p:cNvPr>
          <p:cNvSpPr txBox="1"/>
          <p:nvPr/>
        </p:nvSpPr>
        <p:spPr>
          <a:xfrm>
            <a:off x="718455" y="236764"/>
            <a:ext cx="357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Tariffs for July onwards</a:t>
            </a:r>
            <a:endParaRPr lang="en-TO" b="1" u="sng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71FEB58-310D-2D13-7B6E-FE6695F72061}"/>
              </a:ext>
            </a:extLst>
          </p:cNvPr>
          <p:cNvGrpSpPr/>
          <p:nvPr/>
        </p:nvGrpSpPr>
        <p:grpSpPr>
          <a:xfrm>
            <a:off x="2520727" y="2491648"/>
            <a:ext cx="7381872" cy="3754783"/>
            <a:chOff x="681040" y="975629"/>
            <a:chExt cx="7381872" cy="375478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8A9B86B-F06A-1F1A-980D-7DDBD7A8EA42}"/>
                </a:ext>
              </a:extLst>
            </p:cNvPr>
            <p:cNvSpPr/>
            <p:nvPr/>
          </p:nvSpPr>
          <p:spPr>
            <a:xfrm>
              <a:off x="681040" y="1030735"/>
              <a:ext cx="1526721" cy="95114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Fuel Subsidy</a:t>
              </a:r>
              <a:endParaRPr lang="en-TO" sz="1400" b="1" dirty="0"/>
            </a:p>
          </p:txBody>
        </p:sp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645A3A25-F6A5-BDF8-CA3E-6ADCBD0B4486}"/>
                </a:ext>
              </a:extLst>
            </p:cNvPr>
            <p:cNvCxnSpPr>
              <a:cxnSpLocks/>
              <a:stCxn id="4" idx="3"/>
              <a:endCxn id="14" idx="1"/>
            </p:cNvCxnSpPr>
            <p:nvPr/>
          </p:nvCxnSpPr>
          <p:spPr>
            <a:xfrm>
              <a:off x="2207761" y="1506306"/>
              <a:ext cx="4012743" cy="1"/>
            </a:xfrm>
            <a:prstGeom prst="bentConnector3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1A90BBB-98D0-530C-4A35-CC74E79424C2}"/>
                </a:ext>
              </a:extLst>
            </p:cNvPr>
            <p:cNvSpPr/>
            <p:nvPr/>
          </p:nvSpPr>
          <p:spPr>
            <a:xfrm>
              <a:off x="3536496" y="2588079"/>
              <a:ext cx="1355272" cy="84092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&lt;150kWh</a:t>
              </a:r>
              <a:endParaRPr lang="en-TO" b="1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13904B7-ED10-C634-393C-260C01E5962D}"/>
                </a:ext>
              </a:extLst>
            </p:cNvPr>
            <p:cNvSpPr/>
            <p:nvPr/>
          </p:nvSpPr>
          <p:spPr>
            <a:xfrm>
              <a:off x="6220504" y="975629"/>
              <a:ext cx="1842408" cy="1061355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Total subsidy </a:t>
              </a:r>
              <a:r>
                <a:rPr lang="en-US" dirty="0">
                  <a:solidFill>
                    <a:schemeClr val="tx1"/>
                  </a:solidFill>
                </a:rPr>
                <a:t>= </a:t>
              </a:r>
              <a:r>
                <a:rPr lang="en-US" b="1" dirty="0">
                  <a:solidFill>
                    <a:schemeClr val="accent4"/>
                  </a:solidFill>
                </a:rPr>
                <a:t>Fuel</a:t>
              </a:r>
              <a:r>
                <a:rPr lang="en-US" b="1" dirty="0"/>
                <a:t> </a:t>
              </a:r>
              <a:r>
                <a:rPr lang="en-US" dirty="0"/>
                <a:t>+ </a:t>
              </a:r>
              <a:r>
                <a:rPr lang="en-US" b="1" dirty="0">
                  <a:solidFill>
                    <a:schemeClr val="accent2"/>
                  </a:solidFill>
                </a:rPr>
                <a:t>Lifeline</a:t>
              </a:r>
              <a:endParaRPr lang="en-TO" b="1" dirty="0">
                <a:solidFill>
                  <a:schemeClr val="accent2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35D860E-31F9-3001-0EF8-4D34186599D7}"/>
                </a:ext>
              </a:extLst>
            </p:cNvPr>
            <p:cNvSpPr/>
            <p:nvPr/>
          </p:nvSpPr>
          <p:spPr>
            <a:xfrm>
              <a:off x="6232075" y="2481940"/>
              <a:ext cx="1745794" cy="103687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Lifeline tariff: </a:t>
              </a:r>
              <a:r>
                <a:rPr lang="en-US" sz="1400" dirty="0"/>
                <a:t>Further fixed to 70c</a:t>
              </a:r>
              <a:endParaRPr lang="en-TO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4415B4D-E2F0-AB14-80B6-C9A39AB76A88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4891768" y="3008539"/>
              <a:ext cx="1340307" cy="1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11CCA7A-1D5A-FF13-20B6-120B5A67FFA9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4214132" y="1506307"/>
              <a:ext cx="0" cy="1081772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2583E04-D512-6B53-203F-382F789558F2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 flipV="1">
              <a:off x="7141708" y="2036984"/>
              <a:ext cx="0" cy="35106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905CF2D-ACA0-A788-E175-794AF1022239}"/>
                </a:ext>
              </a:extLst>
            </p:cNvPr>
            <p:cNvSpPr txBox="1"/>
            <p:nvPr/>
          </p:nvSpPr>
          <p:spPr>
            <a:xfrm>
              <a:off x="732402" y="2230934"/>
              <a:ext cx="2560528" cy="9387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Fuel subsidy = Monthly fuel - 0.8958c</a:t>
              </a:r>
            </a:p>
            <a:p>
              <a:r>
                <a:rPr lang="en-US" sz="1100" dirty="0"/>
                <a:t> </a:t>
              </a:r>
            </a:p>
            <a:p>
              <a:pPr algn="ctr"/>
              <a:r>
                <a:rPr lang="en-US" sz="1100" dirty="0"/>
                <a:t> Note that this variance calculation captures only the change in the fuel component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ABE4CC8-A797-FDB6-0800-D18B7CF98E61}"/>
                </a:ext>
              </a:extLst>
            </p:cNvPr>
            <p:cNvSpPr txBox="1"/>
            <p:nvPr/>
          </p:nvSpPr>
          <p:spPr>
            <a:xfrm>
              <a:off x="4611459" y="3714749"/>
              <a:ext cx="2132241" cy="10156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200" dirty="0"/>
                <a:t>Residents consuming &lt;150kWh receive a further subsidized amount bringing their tariff price down to </a:t>
              </a:r>
              <a:r>
                <a:rPr lang="en-US" sz="1200" b="1" dirty="0"/>
                <a:t>0.70c</a:t>
              </a:r>
              <a:endParaRPr lang="en-TO" sz="1200" b="1" dirty="0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C6C0732C-3329-DF24-70A0-E0B5544E4FA2}"/>
              </a:ext>
            </a:extLst>
          </p:cNvPr>
          <p:cNvSpPr txBox="1"/>
          <p:nvPr/>
        </p:nvSpPr>
        <p:spPr>
          <a:xfrm>
            <a:off x="1624694" y="734034"/>
            <a:ext cx="7119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t">
              <a:buFont typeface="+mj-lt"/>
              <a:buAutoNum type="arabicPeriod"/>
            </a:pPr>
            <a:r>
              <a:rPr lang="en-TO" sz="1400" b="1" dirty="0"/>
              <a:t>Fuel Surcharge Subsidy:</a:t>
            </a:r>
            <a:r>
              <a:rPr lang="en-TO" sz="1400" dirty="0"/>
              <a:t> Government covers the increase in tariff above the April baseline (0.8958 $/kWh), ensuring all households effectively pay no more than the baseline rate after subsidy.</a:t>
            </a:r>
          </a:p>
          <a:p>
            <a:pPr marL="342900" indent="-342900" fontAlgn="t">
              <a:buFont typeface="+mj-lt"/>
              <a:buAutoNum type="arabicPeriod"/>
            </a:pPr>
            <a:r>
              <a:rPr lang="en-TO" sz="1400" b="1" dirty="0"/>
              <a:t>Lifeline Subsidy (&lt;150 kWh):</a:t>
            </a:r>
            <a:r>
              <a:rPr lang="en-TO" sz="1400" dirty="0"/>
              <a:t> Households consuming less than 150 kWh per month receive an additional subsidy that reduces their effective tariff further to a fixed rate of 0.70 $/kWh.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BC2A62F-A0FB-F35C-638F-7AE90E0702F2}"/>
              </a:ext>
            </a:extLst>
          </p:cNvPr>
          <p:cNvSpPr/>
          <p:nvPr/>
        </p:nvSpPr>
        <p:spPr>
          <a:xfrm>
            <a:off x="514350" y="2546754"/>
            <a:ext cx="1526721" cy="2057903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July tariff price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5AB526-ECD4-5FC6-D4D5-B4CE09B37A55}"/>
              </a:ext>
            </a:extLst>
          </p:cNvPr>
          <p:cNvSpPr txBox="1"/>
          <p:nvPr/>
        </p:nvSpPr>
        <p:spPr>
          <a:xfrm>
            <a:off x="948075" y="3827099"/>
            <a:ext cx="775608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/>
              <a:t>($/kWh)</a:t>
            </a:r>
            <a:endParaRPr lang="en-TO" sz="1200" b="1" dirty="0"/>
          </a:p>
        </p:txBody>
      </p:sp>
    </p:spTree>
    <p:extLst>
      <p:ext uri="{BB962C8B-B14F-4D97-AF65-F5344CB8AC3E}">
        <p14:creationId xmlns:p14="http://schemas.microsoft.com/office/powerpoint/2010/main" val="183270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129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Moeaki</dc:creator>
  <cp:lastModifiedBy>Antonio Moeaki</cp:lastModifiedBy>
  <cp:revision>2</cp:revision>
  <dcterms:created xsi:type="dcterms:W3CDTF">2026-07-01T02:49:15Z</dcterms:created>
  <dcterms:modified xsi:type="dcterms:W3CDTF">2026-07-01T03:10:43Z</dcterms:modified>
</cp:coreProperties>
</file>