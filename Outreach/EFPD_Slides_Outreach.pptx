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2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T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image" Target="../media/image1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image" Target="../media/image1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472386-19E3-484E-9338-057451E80F4E}" type="doc">
      <dgm:prSet loTypeId="urn:microsoft.com/office/officeart/2011/layout/RadialPictureList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TO"/>
        </a:p>
      </dgm:t>
    </dgm:pt>
    <dgm:pt modelId="{C82468C4-0031-46ED-A913-B87CDF71F4E0}">
      <dgm:prSet phldrT="[Text]" custT="1"/>
      <dgm:spPr/>
      <dgm:t>
        <a:bodyPr/>
        <a:lstStyle/>
        <a:p>
          <a:pPr algn="ctr"/>
          <a:r>
            <a:rPr lang="en-US" sz="1200" b="1"/>
            <a:t>National resilience</a:t>
          </a:r>
          <a:endParaRPr lang="en-TO" sz="1200" b="1"/>
        </a:p>
      </dgm:t>
    </dgm:pt>
    <dgm:pt modelId="{3C01163F-D1AA-4ED8-B25D-2622433D3BBB}" type="parTrans" cxnId="{E74ECAD4-5867-4884-B46E-CECC8C566C30}">
      <dgm:prSet/>
      <dgm:spPr/>
      <dgm:t>
        <a:bodyPr/>
        <a:lstStyle/>
        <a:p>
          <a:endParaRPr lang="en-TO"/>
        </a:p>
      </dgm:t>
    </dgm:pt>
    <dgm:pt modelId="{03575B7E-3EA1-4F91-9CA6-5C342AC2CF96}" type="sibTrans" cxnId="{E74ECAD4-5867-4884-B46E-CECC8C566C30}">
      <dgm:prSet/>
      <dgm:spPr/>
      <dgm:t>
        <a:bodyPr/>
        <a:lstStyle/>
        <a:p>
          <a:endParaRPr lang="en-TO"/>
        </a:p>
      </dgm:t>
    </dgm:pt>
    <dgm:pt modelId="{3A743ECA-2171-459F-9003-B979C8CE6D1C}">
      <dgm:prSet phldrT="[Text]" custT="1"/>
      <dgm:spPr/>
      <dgm:t>
        <a:bodyPr/>
        <a:lstStyle/>
        <a:p>
          <a:pPr algn="ctr"/>
          <a:r>
            <a:rPr lang="en-US" sz="1200" b="1" dirty="0"/>
            <a:t>Social sector development</a:t>
          </a:r>
          <a:endParaRPr lang="en-TO" sz="1200" b="1" dirty="0"/>
        </a:p>
      </dgm:t>
    </dgm:pt>
    <dgm:pt modelId="{D06051BE-DDF5-4DE5-92FB-EE8152C5B0FD}" type="parTrans" cxnId="{9F2B182A-A3BA-4326-BDF7-87B79AB43F15}">
      <dgm:prSet/>
      <dgm:spPr/>
      <dgm:t>
        <a:bodyPr/>
        <a:lstStyle/>
        <a:p>
          <a:endParaRPr lang="en-TO"/>
        </a:p>
      </dgm:t>
    </dgm:pt>
    <dgm:pt modelId="{A612A42C-2815-4A47-985A-05E8CB2C8ACB}" type="sibTrans" cxnId="{9F2B182A-A3BA-4326-BDF7-87B79AB43F15}">
      <dgm:prSet/>
      <dgm:spPr/>
      <dgm:t>
        <a:bodyPr/>
        <a:lstStyle/>
        <a:p>
          <a:endParaRPr lang="en-TO"/>
        </a:p>
      </dgm:t>
    </dgm:pt>
    <dgm:pt modelId="{4E409691-28C8-4BE5-8BE2-D87A78F68CE5}">
      <dgm:prSet phldrT="[Text]" custT="1"/>
      <dgm:spPr/>
      <dgm:t>
        <a:bodyPr/>
        <a:lstStyle/>
        <a:p>
          <a:pPr algn="ctr"/>
          <a:r>
            <a:rPr lang="en-US" sz="1200" b="1" dirty="0"/>
            <a:t>Economic &amp; Public sector</a:t>
          </a:r>
        </a:p>
        <a:p>
          <a:pPr algn="ctr"/>
          <a:r>
            <a:rPr lang="en-US" sz="1200" b="1" dirty="0"/>
            <a:t>Development</a:t>
          </a:r>
          <a:endParaRPr lang="en-TO" sz="1200" b="1" dirty="0"/>
        </a:p>
      </dgm:t>
    </dgm:pt>
    <dgm:pt modelId="{0335C0BE-0A72-478A-8A72-14833E997A4E}" type="parTrans" cxnId="{39D55A84-3E96-415F-ACD0-8FB438162D99}">
      <dgm:prSet/>
      <dgm:spPr/>
      <dgm:t>
        <a:bodyPr/>
        <a:lstStyle/>
        <a:p>
          <a:endParaRPr lang="en-TO"/>
        </a:p>
      </dgm:t>
    </dgm:pt>
    <dgm:pt modelId="{2D5256E4-C9E6-4FA1-99CF-5B996622C105}" type="sibTrans" cxnId="{39D55A84-3E96-415F-ACD0-8FB438162D99}">
      <dgm:prSet/>
      <dgm:spPr/>
      <dgm:t>
        <a:bodyPr/>
        <a:lstStyle/>
        <a:p>
          <a:endParaRPr lang="en-TO"/>
        </a:p>
      </dgm:t>
    </dgm:pt>
    <dgm:pt modelId="{A105EF64-E604-483E-A2DA-195FDF154785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GPA</a:t>
          </a:r>
          <a:endParaRPr lang="en-TO" dirty="0"/>
        </a:p>
      </dgm:t>
    </dgm:pt>
    <dgm:pt modelId="{C0F958AB-0D36-45B5-90BB-EDB4164CB7C9}" type="sibTrans" cxnId="{5D280A95-EA36-4683-BAF3-D0AFCDA65477}">
      <dgm:prSet/>
      <dgm:spPr/>
      <dgm:t>
        <a:bodyPr/>
        <a:lstStyle/>
        <a:p>
          <a:endParaRPr lang="en-TO"/>
        </a:p>
      </dgm:t>
    </dgm:pt>
    <dgm:pt modelId="{C30938AE-7AED-420C-8C34-4EFC0F79A5F1}" type="parTrans" cxnId="{5D280A95-EA36-4683-BAF3-D0AFCDA65477}">
      <dgm:prSet/>
      <dgm:spPr/>
      <dgm:t>
        <a:bodyPr/>
        <a:lstStyle/>
        <a:p>
          <a:endParaRPr lang="en-TO"/>
        </a:p>
      </dgm:t>
    </dgm:pt>
    <dgm:pt modelId="{F8386E73-C471-4C50-813D-8E68EB2B2C22}" type="pres">
      <dgm:prSet presAssocID="{12472386-19E3-484E-9338-057451E80F4E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A8F9C277-0537-48A9-9B38-7C28F2FFAE14}" type="pres">
      <dgm:prSet presAssocID="{A105EF64-E604-483E-A2DA-195FDF154785}" presName="Parent" presStyleLbl="node1" presStyleIdx="0" presStyleCnt="2">
        <dgm:presLayoutVars>
          <dgm:chMax val="4"/>
          <dgm:chPref val="3"/>
        </dgm:presLayoutVars>
      </dgm:prSet>
      <dgm:spPr/>
    </dgm:pt>
    <dgm:pt modelId="{D988C1EC-36CD-4255-8CC1-FF82700C0A2E}" type="pres">
      <dgm:prSet presAssocID="{C82468C4-0031-46ED-A913-B87CDF71F4E0}" presName="Accent" presStyleLbl="node1" presStyleIdx="1" presStyleCnt="2"/>
      <dgm:spPr>
        <a:solidFill>
          <a:schemeClr val="tx1"/>
        </a:solidFill>
      </dgm:spPr>
    </dgm:pt>
    <dgm:pt modelId="{AECEDFC8-BF08-4F43-8997-0A72CB7C42A1}" type="pres">
      <dgm:prSet presAssocID="{C82468C4-0031-46ED-A913-B87CDF71F4E0}" presName="Image1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B0B0DC30-8D22-4BF6-9460-2D7B9C8549B6}" type="pres">
      <dgm:prSet presAssocID="{C82468C4-0031-46ED-A913-B87CDF71F4E0}" presName="Child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26AC63B0-8916-4CEB-BDB4-B698582C62D8}" type="pres">
      <dgm:prSet presAssocID="{3A743ECA-2171-459F-9003-B979C8CE6D1C}" presName="Image2" presStyleCnt="0"/>
      <dgm:spPr/>
    </dgm:pt>
    <dgm:pt modelId="{5EF9C022-C49E-44F1-B942-97C0CC3E0AE4}" type="pres">
      <dgm:prSet presAssocID="{3A743ECA-2171-459F-9003-B979C8CE6D1C}" presName="Image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0" r="-30000"/>
          </a:stretch>
        </a:blipFill>
      </dgm:spPr>
    </dgm:pt>
    <dgm:pt modelId="{0133FE6D-51E9-464C-92A3-6006F527AD2C}" type="pres">
      <dgm:prSet presAssocID="{3A743ECA-2171-459F-9003-B979C8CE6D1C}" presName="Child2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F7048648-B7D8-4A2B-824B-CF59487172E9}" type="pres">
      <dgm:prSet presAssocID="{4E409691-28C8-4BE5-8BE2-D87A78F68CE5}" presName="Image3" presStyleCnt="0"/>
      <dgm:spPr/>
    </dgm:pt>
    <dgm:pt modelId="{1DB1E121-9427-45C7-97E3-95FD7298680B}" type="pres">
      <dgm:prSet presAssocID="{4E409691-28C8-4BE5-8BE2-D87A78F68CE5}" presName="Image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CCDFF5BF-29EB-4CD5-B01D-FD78AA0F9B64}" type="pres">
      <dgm:prSet presAssocID="{4E409691-28C8-4BE5-8BE2-D87A78F68CE5}" presName="Child3" presStyleLbl="revTx" presStyleIdx="2" presStyleCnt="3" custScaleX="176073" custLinFactNeighborX="27135">
        <dgm:presLayoutVars>
          <dgm:chMax val="0"/>
          <dgm:chPref val="0"/>
          <dgm:bulletEnabled val="1"/>
        </dgm:presLayoutVars>
      </dgm:prSet>
      <dgm:spPr/>
    </dgm:pt>
  </dgm:ptLst>
  <dgm:cxnLst>
    <dgm:cxn modelId="{E4E8181A-494B-467E-A278-06BC43EC9EF6}" type="presOf" srcId="{C82468C4-0031-46ED-A913-B87CDF71F4E0}" destId="{B0B0DC30-8D22-4BF6-9460-2D7B9C8549B6}" srcOrd="0" destOrd="0" presId="urn:microsoft.com/office/officeart/2011/layout/RadialPictureList"/>
    <dgm:cxn modelId="{9F2B182A-A3BA-4326-BDF7-87B79AB43F15}" srcId="{A105EF64-E604-483E-A2DA-195FDF154785}" destId="{3A743ECA-2171-459F-9003-B979C8CE6D1C}" srcOrd="1" destOrd="0" parTransId="{D06051BE-DDF5-4DE5-92FB-EE8152C5B0FD}" sibTransId="{A612A42C-2815-4A47-985A-05E8CB2C8ACB}"/>
    <dgm:cxn modelId="{D0F23467-4020-4EB4-BFD8-468FF29C49BE}" type="presOf" srcId="{A105EF64-E604-483E-A2DA-195FDF154785}" destId="{A8F9C277-0537-48A9-9B38-7C28F2FFAE14}" srcOrd="0" destOrd="0" presId="urn:microsoft.com/office/officeart/2011/layout/RadialPictureList"/>
    <dgm:cxn modelId="{D9C9617B-4BCC-4751-BDE2-92A3839074B4}" type="presOf" srcId="{3A743ECA-2171-459F-9003-B979C8CE6D1C}" destId="{0133FE6D-51E9-464C-92A3-6006F527AD2C}" srcOrd="0" destOrd="0" presId="urn:microsoft.com/office/officeart/2011/layout/RadialPictureList"/>
    <dgm:cxn modelId="{37BAE581-2A92-4B2A-AB91-EF6E658C814C}" type="presOf" srcId="{4E409691-28C8-4BE5-8BE2-D87A78F68CE5}" destId="{CCDFF5BF-29EB-4CD5-B01D-FD78AA0F9B64}" srcOrd="0" destOrd="0" presId="urn:microsoft.com/office/officeart/2011/layout/RadialPictureList"/>
    <dgm:cxn modelId="{39D55A84-3E96-415F-ACD0-8FB438162D99}" srcId="{A105EF64-E604-483E-A2DA-195FDF154785}" destId="{4E409691-28C8-4BE5-8BE2-D87A78F68CE5}" srcOrd="2" destOrd="0" parTransId="{0335C0BE-0A72-478A-8A72-14833E997A4E}" sibTransId="{2D5256E4-C9E6-4FA1-99CF-5B996622C105}"/>
    <dgm:cxn modelId="{5D280A95-EA36-4683-BAF3-D0AFCDA65477}" srcId="{12472386-19E3-484E-9338-057451E80F4E}" destId="{A105EF64-E604-483E-A2DA-195FDF154785}" srcOrd="0" destOrd="0" parTransId="{C30938AE-7AED-420C-8C34-4EFC0F79A5F1}" sibTransId="{C0F958AB-0D36-45B5-90BB-EDB4164CB7C9}"/>
    <dgm:cxn modelId="{18333DBE-AEF4-40B0-8FC4-790F806EF67C}" type="presOf" srcId="{12472386-19E3-484E-9338-057451E80F4E}" destId="{F8386E73-C471-4C50-813D-8E68EB2B2C22}" srcOrd="0" destOrd="0" presId="urn:microsoft.com/office/officeart/2011/layout/RadialPictureList"/>
    <dgm:cxn modelId="{E74ECAD4-5867-4884-B46E-CECC8C566C30}" srcId="{A105EF64-E604-483E-A2DA-195FDF154785}" destId="{C82468C4-0031-46ED-A913-B87CDF71F4E0}" srcOrd="0" destOrd="0" parTransId="{3C01163F-D1AA-4ED8-B25D-2622433D3BBB}" sibTransId="{03575B7E-3EA1-4F91-9CA6-5C342AC2CF96}"/>
    <dgm:cxn modelId="{F97C2D9F-6ADD-4AD1-AFBF-19A48677C04E}" type="presParOf" srcId="{F8386E73-C471-4C50-813D-8E68EB2B2C22}" destId="{A8F9C277-0537-48A9-9B38-7C28F2FFAE14}" srcOrd="0" destOrd="0" presId="urn:microsoft.com/office/officeart/2011/layout/RadialPictureList"/>
    <dgm:cxn modelId="{7576192C-B347-44AA-88C9-1FA6CD882CA7}" type="presParOf" srcId="{F8386E73-C471-4C50-813D-8E68EB2B2C22}" destId="{D988C1EC-36CD-4255-8CC1-FF82700C0A2E}" srcOrd="1" destOrd="0" presId="urn:microsoft.com/office/officeart/2011/layout/RadialPictureList"/>
    <dgm:cxn modelId="{A22513FB-3CE0-41C1-83A6-492C8C108C77}" type="presParOf" srcId="{F8386E73-C471-4C50-813D-8E68EB2B2C22}" destId="{AECEDFC8-BF08-4F43-8997-0A72CB7C42A1}" srcOrd="2" destOrd="0" presId="urn:microsoft.com/office/officeart/2011/layout/RadialPictureList"/>
    <dgm:cxn modelId="{701A28D9-7C1D-4D87-AEEF-F8BE39B362A9}" type="presParOf" srcId="{F8386E73-C471-4C50-813D-8E68EB2B2C22}" destId="{B0B0DC30-8D22-4BF6-9460-2D7B9C8549B6}" srcOrd="3" destOrd="0" presId="urn:microsoft.com/office/officeart/2011/layout/RadialPictureList"/>
    <dgm:cxn modelId="{8C9B6C95-F2F2-480E-8F09-C098B088ADC8}" type="presParOf" srcId="{F8386E73-C471-4C50-813D-8E68EB2B2C22}" destId="{26AC63B0-8916-4CEB-BDB4-B698582C62D8}" srcOrd="4" destOrd="0" presId="urn:microsoft.com/office/officeart/2011/layout/RadialPictureList"/>
    <dgm:cxn modelId="{B62E3F14-5562-4B9F-9912-517A4CE4678C}" type="presParOf" srcId="{26AC63B0-8916-4CEB-BDB4-B698582C62D8}" destId="{5EF9C022-C49E-44F1-B942-97C0CC3E0AE4}" srcOrd="0" destOrd="0" presId="urn:microsoft.com/office/officeart/2011/layout/RadialPictureList"/>
    <dgm:cxn modelId="{3530D3D6-8CB7-4E73-82CC-AACAC7CB888C}" type="presParOf" srcId="{F8386E73-C471-4C50-813D-8E68EB2B2C22}" destId="{0133FE6D-51E9-464C-92A3-6006F527AD2C}" srcOrd="5" destOrd="0" presId="urn:microsoft.com/office/officeart/2011/layout/RadialPictureList"/>
    <dgm:cxn modelId="{06C12978-0BB9-40B0-8707-5F266835C79E}" type="presParOf" srcId="{F8386E73-C471-4C50-813D-8E68EB2B2C22}" destId="{F7048648-B7D8-4A2B-824B-CF59487172E9}" srcOrd="6" destOrd="0" presId="urn:microsoft.com/office/officeart/2011/layout/RadialPictureList"/>
    <dgm:cxn modelId="{3C43E4D5-E65F-4A77-BBDC-B76E457FD172}" type="presParOf" srcId="{F7048648-B7D8-4A2B-824B-CF59487172E9}" destId="{1DB1E121-9427-45C7-97E3-95FD7298680B}" srcOrd="0" destOrd="0" presId="urn:microsoft.com/office/officeart/2011/layout/RadialPictureList"/>
    <dgm:cxn modelId="{050FE97E-1AE0-47DE-82D2-D54F131D88EC}" type="presParOf" srcId="{F8386E73-C471-4C50-813D-8E68EB2B2C22}" destId="{CCDFF5BF-29EB-4CD5-B01D-FD78AA0F9B64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CBDD73-DF01-41CC-A101-589CCC8F339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TO"/>
        </a:p>
      </dgm:t>
    </dgm:pt>
    <dgm:pt modelId="{0700D22C-6C8E-475D-AB33-81C7EBE19AEA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1. Climate &amp; Disaster Resilience</a:t>
          </a:r>
          <a:endParaRPr lang="en-TO" dirty="0">
            <a:solidFill>
              <a:schemeClr val="bg1"/>
            </a:solidFill>
          </a:endParaRPr>
        </a:p>
      </dgm:t>
    </dgm:pt>
    <dgm:pt modelId="{D539A460-778C-486E-8B37-FBC21E34899B}" type="parTrans" cxnId="{C2B4F0A7-6B28-4E13-9214-9A1D4D234DE1}">
      <dgm:prSet/>
      <dgm:spPr/>
      <dgm:t>
        <a:bodyPr/>
        <a:lstStyle/>
        <a:p>
          <a:endParaRPr lang="en-TO"/>
        </a:p>
      </dgm:t>
    </dgm:pt>
    <dgm:pt modelId="{2CD52F27-50A8-4B14-97FB-AD4CCA65000F}" type="sibTrans" cxnId="{C2B4F0A7-6B28-4E13-9214-9A1D4D234DE1}">
      <dgm:prSet/>
      <dgm:spPr/>
      <dgm:t>
        <a:bodyPr/>
        <a:lstStyle/>
        <a:p>
          <a:endParaRPr lang="en-TO"/>
        </a:p>
      </dgm:t>
    </dgm:pt>
    <dgm:pt modelId="{9CA26F87-6F77-44B8-BEF5-D7DC35329C31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2. Combat Illicit Drugs</a:t>
          </a:r>
          <a:endParaRPr lang="en-TO" dirty="0">
            <a:solidFill>
              <a:schemeClr val="bg1"/>
            </a:solidFill>
          </a:endParaRPr>
        </a:p>
      </dgm:t>
    </dgm:pt>
    <dgm:pt modelId="{0132BD98-92DD-4FAB-835B-DF00190EBB1A}" type="parTrans" cxnId="{3A976C27-B3A4-4C11-AFB9-34159C7BCB4A}">
      <dgm:prSet/>
      <dgm:spPr/>
      <dgm:t>
        <a:bodyPr/>
        <a:lstStyle/>
        <a:p>
          <a:endParaRPr lang="en-TO"/>
        </a:p>
      </dgm:t>
    </dgm:pt>
    <dgm:pt modelId="{A56F4FB0-1397-446E-8423-71CD7326C820}" type="sibTrans" cxnId="{3A976C27-B3A4-4C11-AFB9-34159C7BCB4A}">
      <dgm:prSet/>
      <dgm:spPr/>
      <dgm:t>
        <a:bodyPr/>
        <a:lstStyle/>
        <a:p>
          <a:endParaRPr lang="en-TO"/>
        </a:p>
      </dgm:t>
    </dgm:pt>
    <dgm:pt modelId="{AD662C4D-530A-474E-8A17-7D88656C07E4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3. Poverty Reduction &amp; Vulnerable Groups</a:t>
          </a:r>
          <a:endParaRPr lang="en-TO" dirty="0">
            <a:solidFill>
              <a:schemeClr val="bg1"/>
            </a:solidFill>
          </a:endParaRPr>
        </a:p>
      </dgm:t>
    </dgm:pt>
    <dgm:pt modelId="{1EEF8003-4137-4E29-B2B6-152EB9DCC7C9}" type="parTrans" cxnId="{778E380F-0EBC-4448-8C6C-AFF5165BDB73}">
      <dgm:prSet/>
      <dgm:spPr/>
      <dgm:t>
        <a:bodyPr/>
        <a:lstStyle/>
        <a:p>
          <a:endParaRPr lang="en-TO"/>
        </a:p>
      </dgm:t>
    </dgm:pt>
    <dgm:pt modelId="{A078DC02-070B-4BF3-8592-03AC24147380}" type="sibTrans" cxnId="{778E380F-0EBC-4448-8C6C-AFF5165BDB73}">
      <dgm:prSet/>
      <dgm:spPr/>
      <dgm:t>
        <a:bodyPr/>
        <a:lstStyle/>
        <a:p>
          <a:endParaRPr lang="en-TO"/>
        </a:p>
      </dgm:t>
    </dgm:pt>
    <dgm:pt modelId="{93EC7826-75CA-4F77-9255-91A7700DFE3A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4. Quality Education</a:t>
          </a:r>
          <a:endParaRPr lang="en-TO" dirty="0">
            <a:solidFill>
              <a:schemeClr val="bg1"/>
            </a:solidFill>
          </a:endParaRPr>
        </a:p>
      </dgm:t>
    </dgm:pt>
    <dgm:pt modelId="{2B594C99-6980-4CAD-A8EA-0ADDE9D8C353}" type="parTrans" cxnId="{937048CF-8175-4731-8A8D-6577D1089445}">
      <dgm:prSet/>
      <dgm:spPr/>
      <dgm:t>
        <a:bodyPr/>
        <a:lstStyle/>
        <a:p>
          <a:endParaRPr lang="en-TO"/>
        </a:p>
      </dgm:t>
    </dgm:pt>
    <dgm:pt modelId="{F22B44F7-D429-401F-86D0-900044E6EFC1}" type="sibTrans" cxnId="{937048CF-8175-4731-8A8D-6577D1089445}">
      <dgm:prSet/>
      <dgm:spPr/>
      <dgm:t>
        <a:bodyPr/>
        <a:lstStyle/>
        <a:p>
          <a:endParaRPr lang="en-TO"/>
        </a:p>
      </dgm:t>
    </dgm:pt>
    <dgm:pt modelId="{73EF7D05-C8A3-4DE5-B7AA-E2A3161CD02D}">
      <dgm:prSet phldrT="[Text]"/>
      <dgm:spPr/>
      <dgm:t>
        <a:bodyPr/>
        <a:lstStyle/>
        <a:p>
          <a:r>
            <a:rPr lang="en-US" dirty="0"/>
            <a:t>6. Economic Growth</a:t>
          </a:r>
          <a:endParaRPr lang="en-TO" dirty="0"/>
        </a:p>
      </dgm:t>
    </dgm:pt>
    <dgm:pt modelId="{60B1FE1D-505C-4BA8-ADEA-2298F627BBBF}" type="parTrans" cxnId="{4F706E2A-5685-4344-BCC2-058F7CA02D70}">
      <dgm:prSet/>
      <dgm:spPr/>
      <dgm:t>
        <a:bodyPr/>
        <a:lstStyle/>
        <a:p>
          <a:endParaRPr lang="en-TO"/>
        </a:p>
      </dgm:t>
    </dgm:pt>
    <dgm:pt modelId="{4041478F-9DBF-4A39-9044-4B8DF87B3947}" type="sibTrans" cxnId="{4F706E2A-5685-4344-BCC2-058F7CA02D70}">
      <dgm:prSet/>
      <dgm:spPr/>
      <dgm:t>
        <a:bodyPr/>
        <a:lstStyle/>
        <a:p>
          <a:endParaRPr lang="en-TO"/>
        </a:p>
      </dgm:t>
    </dgm:pt>
    <dgm:pt modelId="{3499B0F2-FB4D-4477-853D-CB787C1F3669}">
      <dgm:prSet phldrT="[Text]"/>
      <dgm:spPr/>
      <dgm:t>
        <a:bodyPr/>
        <a:lstStyle/>
        <a:p>
          <a:r>
            <a:rPr lang="en-US" dirty="0"/>
            <a:t>7. Public Sector Efficiency</a:t>
          </a:r>
          <a:endParaRPr lang="en-TO" dirty="0"/>
        </a:p>
      </dgm:t>
    </dgm:pt>
    <dgm:pt modelId="{D5D59C01-7B34-4165-9D04-FD30ADD23A65}" type="parTrans" cxnId="{751B45B2-3EA5-444E-B12E-0F10E2E39629}">
      <dgm:prSet/>
      <dgm:spPr/>
      <dgm:t>
        <a:bodyPr/>
        <a:lstStyle/>
        <a:p>
          <a:endParaRPr lang="en-TO"/>
        </a:p>
      </dgm:t>
    </dgm:pt>
    <dgm:pt modelId="{9FFB2C12-FE02-44B8-A43E-0B401E5CF1E9}" type="sibTrans" cxnId="{751B45B2-3EA5-444E-B12E-0F10E2E39629}">
      <dgm:prSet/>
      <dgm:spPr/>
      <dgm:t>
        <a:bodyPr/>
        <a:lstStyle/>
        <a:p>
          <a:endParaRPr lang="en-TO"/>
        </a:p>
      </dgm:t>
    </dgm:pt>
    <dgm:pt modelId="{0D6F3857-18B6-4263-BCE7-7B4359AFEB87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5. Quality &amp; Affordable Healthcare</a:t>
          </a:r>
          <a:endParaRPr lang="en-TO" dirty="0">
            <a:solidFill>
              <a:schemeClr val="bg1"/>
            </a:solidFill>
          </a:endParaRPr>
        </a:p>
      </dgm:t>
    </dgm:pt>
    <dgm:pt modelId="{5C2BC511-BE92-4252-9C45-E3D4FD91ADCC}" type="parTrans" cxnId="{849400CB-1AEA-4E22-9EC6-A1C9B79BC8F5}">
      <dgm:prSet/>
      <dgm:spPr/>
      <dgm:t>
        <a:bodyPr/>
        <a:lstStyle/>
        <a:p>
          <a:endParaRPr lang="en-TO"/>
        </a:p>
      </dgm:t>
    </dgm:pt>
    <dgm:pt modelId="{2D64A8DB-6CE3-47E9-9295-EE78AFC0243C}" type="sibTrans" cxnId="{849400CB-1AEA-4E22-9EC6-A1C9B79BC8F5}">
      <dgm:prSet/>
      <dgm:spPr/>
      <dgm:t>
        <a:bodyPr/>
        <a:lstStyle/>
        <a:p>
          <a:endParaRPr lang="en-TO"/>
        </a:p>
      </dgm:t>
    </dgm:pt>
    <dgm:pt modelId="{65C007FC-2227-446F-B28F-3AE917A579FA}" type="pres">
      <dgm:prSet presAssocID="{A0CBDD73-DF01-41CC-A101-589CCC8F339B}" presName="Name0" presStyleCnt="0">
        <dgm:presLayoutVars>
          <dgm:chMax val="7"/>
          <dgm:chPref val="7"/>
          <dgm:dir/>
        </dgm:presLayoutVars>
      </dgm:prSet>
      <dgm:spPr/>
    </dgm:pt>
    <dgm:pt modelId="{9067C949-F0DB-4A8E-9134-1DB28429A9F9}" type="pres">
      <dgm:prSet presAssocID="{A0CBDD73-DF01-41CC-A101-589CCC8F339B}" presName="Name1" presStyleCnt="0"/>
      <dgm:spPr/>
    </dgm:pt>
    <dgm:pt modelId="{E8F995F1-F5C5-4447-B8F4-1A01C4369AD0}" type="pres">
      <dgm:prSet presAssocID="{A0CBDD73-DF01-41CC-A101-589CCC8F339B}" presName="cycle" presStyleCnt="0"/>
      <dgm:spPr/>
    </dgm:pt>
    <dgm:pt modelId="{76FBE841-D36F-4A6D-8E0A-F4AAF7DAAC19}" type="pres">
      <dgm:prSet presAssocID="{A0CBDD73-DF01-41CC-A101-589CCC8F339B}" presName="srcNode" presStyleLbl="node1" presStyleIdx="0" presStyleCnt="7"/>
      <dgm:spPr/>
    </dgm:pt>
    <dgm:pt modelId="{58353533-A5E8-461B-8E67-1C02D1A369F3}" type="pres">
      <dgm:prSet presAssocID="{A0CBDD73-DF01-41CC-A101-589CCC8F339B}" presName="conn" presStyleLbl="parChTrans1D2" presStyleIdx="0" presStyleCnt="1"/>
      <dgm:spPr/>
    </dgm:pt>
    <dgm:pt modelId="{2343C722-B27A-4C07-9BB7-9B3071E3AFDF}" type="pres">
      <dgm:prSet presAssocID="{A0CBDD73-DF01-41CC-A101-589CCC8F339B}" presName="extraNode" presStyleLbl="node1" presStyleIdx="0" presStyleCnt="7"/>
      <dgm:spPr/>
    </dgm:pt>
    <dgm:pt modelId="{F5002605-08AF-4F02-AF7E-D4D265B9BAF9}" type="pres">
      <dgm:prSet presAssocID="{A0CBDD73-DF01-41CC-A101-589CCC8F339B}" presName="dstNode" presStyleLbl="node1" presStyleIdx="0" presStyleCnt="7"/>
      <dgm:spPr/>
    </dgm:pt>
    <dgm:pt modelId="{983DD2A0-AD89-44C6-958A-06CBFDB72C00}" type="pres">
      <dgm:prSet presAssocID="{0700D22C-6C8E-475D-AB33-81C7EBE19AEA}" presName="text_1" presStyleLbl="node1" presStyleIdx="0" presStyleCnt="7" custScaleX="89994">
        <dgm:presLayoutVars>
          <dgm:bulletEnabled val="1"/>
        </dgm:presLayoutVars>
      </dgm:prSet>
      <dgm:spPr/>
    </dgm:pt>
    <dgm:pt modelId="{5AEBD968-0FBB-4B34-BB0B-A717576B96B4}" type="pres">
      <dgm:prSet presAssocID="{0700D22C-6C8E-475D-AB33-81C7EBE19AEA}" presName="accent_1" presStyleCnt="0"/>
      <dgm:spPr/>
    </dgm:pt>
    <dgm:pt modelId="{83AC535D-08A9-4B88-B801-B124ADB8F602}" type="pres">
      <dgm:prSet presAssocID="{0700D22C-6C8E-475D-AB33-81C7EBE19AEA}" presName="accentRepeatNode" presStyleLbl="solidFgAcc1" presStyleIdx="0" presStyleCnt="7"/>
      <dgm:spPr>
        <a:ln>
          <a:solidFill>
            <a:schemeClr val="accent1">
              <a:lumMod val="20000"/>
              <a:lumOff val="80000"/>
            </a:schemeClr>
          </a:solidFill>
        </a:ln>
      </dgm:spPr>
    </dgm:pt>
    <dgm:pt modelId="{1E23C1F1-AE96-484C-9BCF-E6C85BA8F937}" type="pres">
      <dgm:prSet presAssocID="{9CA26F87-6F77-44B8-BEF5-D7DC35329C31}" presName="text_2" presStyleLbl="node1" presStyleIdx="1" presStyleCnt="7" custScaleX="89377">
        <dgm:presLayoutVars>
          <dgm:bulletEnabled val="1"/>
        </dgm:presLayoutVars>
      </dgm:prSet>
      <dgm:spPr/>
    </dgm:pt>
    <dgm:pt modelId="{C397265F-CF45-489B-9A9D-1E287522F865}" type="pres">
      <dgm:prSet presAssocID="{9CA26F87-6F77-44B8-BEF5-D7DC35329C31}" presName="accent_2" presStyleCnt="0"/>
      <dgm:spPr/>
    </dgm:pt>
    <dgm:pt modelId="{3C345696-2D99-4CED-8A0C-B173D2F1A645}" type="pres">
      <dgm:prSet presAssocID="{9CA26F87-6F77-44B8-BEF5-D7DC35329C31}" presName="accentRepeatNode" presStyleLbl="solidFgAcc1" presStyleIdx="1" presStyleCnt="7"/>
      <dgm:spPr>
        <a:ln>
          <a:solidFill>
            <a:schemeClr val="accent1">
              <a:lumMod val="20000"/>
              <a:lumOff val="80000"/>
            </a:schemeClr>
          </a:solidFill>
        </a:ln>
      </dgm:spPr>
    </dgm:pt>
    <dgm:pt modelId="{556255FF-D444-4A27-9CAB-F7C611845902}" type="pres">
      <dgm:prSet presAssocID="{AD662C4D-530A-474E-8A17-7D88656C07E4}" presName="text_3" presStyleLbl="node1" presStyleIdx="2" presStyleCnt="7" custScaleX="89377">
        <dgm:presLayoutVars>
          <dgm:bulletEnabled val="1"/>
        </dgm:presLayoutVars>
      </dgm:prSet>
      <dgm:spPr/>
    </dgm:pt>
    <dgm:pt modelId="{30F98CFB-EB39-42C4-821D-BBC9505E3A92}" type="pres">
      <dgm:prSet presAssocID="{AD662C4D-530A-474E-8A17-7D88656C07E4}" presName="accent_3" presStyleCnt="0"/>
      <dgm:spPr/>
    </dgm:pt>
    <dgm:pt modelId="{7CE109FD-B763-45C1-AEAB-037ED4153FF3}" type="pres">
      <dgm:prSet presAssocID="{AD662C4D-530A-474E-8A17-7D88656C07E4}" presName="accentRepeatNode" presStyleLbl="solidFgAcc1" presStyleIdx="2" presStyleCnt="7"/>
      <dgm:spPr>
        <a:ln>
          <a:solidFill>
            <a:schemeClr val="accent1">
              <a:lumMod val="20000"/>
              <a:lumOff val="80000"/>
            </a:schemeClr>
          </a:solidFill>
        </a:ln>
      </dgm:spPr>
    </dgm:pt>
    <dgm:pt modelId="{463EB520-4A94-4468-8241-8CE54AA4FAB0}" type="pres">
      <dgm:prSet presAssocID="{93EC7826-75CA-4F77-9255-91A7700DFE3A}" presName="text_4" presStyleLbl="node1" presStyleIdx="3" presStyleCnt="7" custScaleX="89377">
        <dgm:presLayoutVars>
          <dgm:bulletEnabled val="1"/>
        </dgm:presLayoutVars>
      </dgm:prSet>
      <dgm:spPr/>
    </dgm:pt>
    <dgm:pt modelId="{B60D9D39-8CDD-441A-A53D-83E6ACE9FD31}" type="pres">
      <dgm:prSet presAssocID="{93EC7826-75CA-4F77-9255-91A7700DFE3A}" presName="accent_4" presStyleCnt="0"/>
      <dgm:spPr/>
    </dgm:pt>
    <dgm:pt modelId="{49C8CF96-42DC-4CD7-9569-69345D08D344}" type="pres">
      <dgm:prSet presAssocID="{93EC7826-75CA-4F77-9255-91A7700DFE3A}" presName="accentRepeatNode" presStyleLbl="solidFgAcc1" presStyleIdx="3" presStyleCnt="7"/>
      <dgm:spPr>
        <a:ln>
          <a:solidFill>
            <a:schemeClr val="accent1">
              <a:lumMod val="20000"/>
              <a:lumOff val="80000"/>
            </a:schemeClr>
          </a:solidFill>
        </a:ln>
      </dgm:spPr>
    </dgm:pt>
    <dgm:pt modelId="{843C8645-6F94-4122-AF4F-AC2CDD29026F}" type="pres">
      <dgm:prSet presAssocID="{0D6F3857-18B6-4263-BCE7-7B4359AFEB87}" presName="text_5" presStyleLbl="node1" presStyleIdx="4" presStyleCnt="7" custScaleX="89377">
        <dgm:presLayoutVars>
          <dgm:bulletEnabled val="1"/>
        </dgm:presLayoutVars>
      </dgm:prSet>
      <dgm:spPr/>
    </dgm:pt>
    <dgm:pt modelId="{FDB5AA53-A9AC-4484-A67C-99D8B3CDF8F4}" type="pres">
      <dgm:prSet presAssocID="{0D6F3857-18B6-4263-BCE7-7B4359AFEB87}" presName="accent_5" presStyleCnt="0"/>
      <dgm:spPr/>
    </dgm:pt>
    <dgm:pt modelId="{FA769782-CCFB-49AC-82C9-BB2600357E25}" type="pres">
      <dgm:prSet presAssocID="{0D6F3857-18B6-4263-BCE7-7B4359AFEB87}" presName="accentRepeatNode" presStyleLbl="solidFgAcc1" presStyleIdx="4" presStyleCnt="7"/>
      <dgm:spPr>
        <a:ln>
          <a:solidFill>
            <a:schemeClr val="accent1">
              <a:lumMod val="20000"/>
              <a:lumOff val="80000"/>
            </a:schemeClr>
          </a:solidFill>
        </a:ln>
      </dgm:spPr>
    </dgm:pt>
    <dgm:pt modelId="{0C739C65-266C-46FF-8011-6C1583535B27}" type="pres">
      <dgm:prSet presAssocID="{73EF7D05-C8A3-4DE5-B7AA-E2A3161CD02D}" presName="text_6" presStyleLbl="node1" presStyleIdx="5" presStyleCnt="7" custScaleX="89377">
        <dgm:presLayoutVars>
          <dgm:bulletEnabled val="1"/>
        </dgm:presLayoutVars>
      </dgm:prSet>
      <dgm:spPr/>
    </dgm:pt>
    <dgm:pt modelId="{E30B08BB-18FE-49F6-B662-F885116829C1}" type="pres">
      <dgm:prSet presAssocID="{73EF7D05-C8A3-4DE5-B7AA-E2A3161CD02D}" presName="accent_6" presStyleCnt="0"/>
      <dgm:spPr/>
    </dgm:pt>
    <dgm:pt modelId="{8B4C7BC5-A30C-433E-B59A-0F1AEFDF8061}" type="pres">
      <dgm:prSet presAssocID="{73EF7D05-C8A3-4DE5-B7AA-E2A3161CD02D}" presName="accentRepeatNode" presStyleLbl="solidFgAcc1" presStyleIdx="5" presStyleCnt="7"/>
      <dgm:spPr>
        <a:ln>
          <a:solidFill>
            <a:schemeClr val="accent1">
              <a:lumMod val="20000"/>
              <a:lumOff val="80000"/>
            </a:schemeClr>
          </a:solidFill>
        </a:ln>
      </dgm:spPr>
    </dgm:pt>
    <dgm:pt modelId="{61A04455-5431-4FF3-99A7-F248D2D4C381}" type="pres">
      <dgm:prSet presAssocID="{3499B0F2-FB4D-4477-853D-CB787C1F3669}" presName="text_7" presStyleLbl="node1" presStyleIdx="6" presStyleCnt="7" custScaleX="89377">
        <dgm:presLayoutVars>
          <dgm:bulletEnabled val="1"/>
        </dgm:presLayoutVars>
      </dgm:prSet>
      <dgm:spPr/>
    </dgm:pt>
    <dgm:pt modelId="{D96AE43A-4B6B-49C3-9496-37FDB720DCA0}" type="pres">
      <dgm:prSet presAssocID="{3499B0F2-FB4D-4477-853D-CB787C1F3669}" presName="accent_7" presStyleCnt="0"/>
      <dgm:spPr/>
    </dgm:pt>
    <dgm:pt modelId="{8AE0676F-C5DF-42A7-A5D3-1C62E34AABD2}" type="pres">
      <dgm:prSet presAssocID="{3499B0F2-FB4D-4477-853D-CB787C1F3669}" presName="accentRepeatNode" presStyleLbl="solidFgAcc1" presStyleIdx="6" presStyleCnt="7"/>
      <dgm:spPr>
        <a:ln>
          <a:solidFill>
            <a:schemeClr val="accent1">
              <a:lumMod val="20000"/>
              <a:lumOff val="80000"/>
            </a:schemeClr>
          </a:solidFill>
        </a:ln>
      </dgm:spPr>
    </dgm:pt>
  </dgm:ptLst>
  <dgm:cxnLst>
    <dgm:cxn modelId="{070A0B0F-94E0-4A2C-BFBE-2332CEBC34FC}" type="presOf" srcId="{2CD52F27-50A8-4B14-97FB-AD4CCA65000F}" destId="{58353533-A5E8-461B-8E67-1C02D1A369F3}" srcOrd="0" destOrd="0" presId="urn:microsoft.com/office/officeart/2008/layout/VerticalCurvedList"/>
    <dgm:cxn modelId="{778E380F-0EBC-4448-8C6C-AFF5165BDB73}" srcId="{A0CBDD73-DF01-41CC-A101-589CCC8F339B}" destId="{AD662C4D-530A-474E-8A17-7D88656C07E4}" srcOrd="2" destOrd="0" parTransId="{1EEF8003-4137-4E29-B2B6-152EB9DCC7C9}" sibTransId="{A078DC02-070B-4BF3-8592-03AC24147380}"/>
    <dgm:cxn modelId="{17C4C513-8716-41D1-B42C-7F97897D495A}" type="presOf" srcId="{93EC7826-75CA-4F77-9255-91A7700DFE3A}" destId="{463EB520-4A94-4468-8241-8CE54AA4FAB0}" srcOrd="0" destOrd="0" presId="urn:microsoft.com/office/officeart/2008/layout/VerticalCurvedList"/>
    <dgm:cxn modelId="{3A976C27-B3A4-4C11-AFB9-34159C7BCB4A}" srcId="{A0CBDD73-DF01-41CC-A101-589CCC8F339B}" destId="{9CA26F87-6F77-44B8-BEF5-D7DC35329C31}" srcOrd="1" destOrd="0" parTransId="{0132BD98-92DD-4FAB-835B-DF00190EBB1A}" sibTransId="{A56F4FB0-1397-446E-8423-71CD7326C820}"/>
    <dgm:cxn modelId="{4F706E2A-5685-4344-BCC2-058F7CA02D70}" srcId="{A0CBDD73-DF01-41CC-A101-589CCC8F339B}" destId="{73EF7D05-C8A3-4DE5-B7AA-E2A3161CD02D}" srcOrd="5" destOrd="0" parTransId="{60B1FE1D-505C-4BA8-ADEA-2298F627BBBF}" sibTransId="{4041478F-9DBF-4A39-9044-4B8DF87B3947}"/>
    <dgm:cxn modelId="{0DADE473-8FD1-4F81-9019-D1BDC054F314}" type="presOf" srcId="{3499B0F2-FB4D-4477-853D-CB787C1F3669}" destId="{61A04455-5431-4FF3-99A7-F248D2D4C381}" srcOrd="0" destOrd="0" presId="urn:microsoft.com/office/officeart/2008/layout/VerticalCurvedList"/>
    <dgm:cxn modelId="{606FE792-65A0-4660-9ACE-112E762C99C1}" type="presOf" srcId="{73EF7D05-C8A3-4DE5-B7AA-E2A3161CD02D}" destId="{0C739C65-266C-46FF-8011-6C1583535B27}" srcOrd="0" destOrd="0" presId="urn:microsoft.com/office/officeart/2008/layout/VerticalCurvedList"/>
    <dgm:cxn modelId="{C9423AA0-E468-4072-8276-9763B118BBB9}" type="presOf" srcId="{0700D22C-6C8E-475D-AB33-81C7EBE19AEA}" destId="{983DD2A0-AD89-44C6-958A-06CBFDB72C00}" srcOrd="0" destOrd="0" presId="urn:microsoft.com/office/officeart/2008/layout/VerticalCurvedList"/>
    <dgm:cxn modelId="{C2B4F0A7-6B28-4E13-9214-9A1D4D234DE1}" srcId="{A0CBDD73-DF01-41CC-A101-589CCC8F339B}" destId="{0700D22C-6C8E-475D-AB33-81C7EBE19AEA}" srcOrd="0" destOrd="0" parTransId="{D539A460-778C-486E-8B37-FBC21E34899B}" sibTransId="{2CD52F27-50A8-4B14-97FB-AD4CCA65000F}"/>
    <dgm:cxn modelId="{88E2ADAF-A500-4BEF-90EC-624D8104BC83}" type="presOf" srcId="{A0CBDD73-DF01-41CC-A101-589CCC8F339B}" destId="{65C007FC-2227-446F-B28F-3AE917A579FA}" srcOrd="0" destOrd="0" presId="urn:microsoft.com/office/officeart/2008/layout/VerticalCurvedList"/>
    <dgm:cxn modelId="{751B45B2-3EA5-444E-B12E-0F10E2E39629}" srcId="{A0CBDD73-DF01-41CC-A101-589CCC8F339B}" destId="{3499B0F2-FB4D-4477-853D-CB787C1F3669}" srcOrd="6" destOrd="0" parTransId="{D5D59C01-7B34-4165-9D04-FD30ADD23A65}" sibTransId="{9FFB2C12-FE02-44B8-A43E-0B401E5CF1E9}"/>
    <dgm:cxn modelId="{290397B5-76F5-4678-BFA2-578880CF7379}" type="presOf" srcId="{0D6F3857-18B6-4263-BCE7-7B4359AFEB87}" destId="{843C8645-6F94-4122-AF4F-AC2CDD29026F}" srcOrd="0" destOrd="0" presId="urn:microsoft.com/office/officeart/2008/layout/VerticalCurvedList"/>
    <dgm:cxn modelId="{3DD1C3BF-7A04-43CD-BDF0-8CAE7026E45E}" type="presOf" srcId="{9CA26F87-6F77-44B8-BEF5-D7DC35329C31}" destId="{1E23C1F1-AE96-484C-9BCF-E6C85BA8F937}" srcOrd="0" destOrd="0" presId="urn:microsoft.com/office/officeart/2008/layout/VerticalCurvedList"/>
    <dgm:cxn modelId="{849400CB-1AEA-4E22-9EC6-A1C9B79BC8F5}" srcId="{A0CBDD73-DF01-41CC-A101-589CCC8F339B}" destId="{0D6F3857-18B6-4263-BCE7-7B4359AFEB87}" srcOrd="4" destOrd="0" parTransId="{5C2BC511-BE92-4252-9C45-E3D4FD91ADCC}" sibTransId="{2D64A8DB-6CE3-47E9-9295-EE78AFC0243C}"/>
    <dgm:cxn modelId="{937048CF-8175-4731-8A8D-6577D1089445}" srcId="{A0CBDD73-DF01-41CC-A101-589CCC8F339B}" destId="{93EC7826-75CA-4F77-9255-91A7700DFE3A}" srcOrd="3" destOrd="0" parTransId="{2B594C99-6980-4CAD-A8EA-0ADDE9D8C353}" sibTransId="{F22B44F7-D429-401F-86D0-900044E6EFC1}"/>
    <dgm:cxn modelId="{C8C264DB-19F0-4C7A-80F0-84C1599A8B4B}" type="presOf" srcId="{AD662C4D-530A-474E-8A17-7D88656C07E4}" destId="{556255FF-D444-4A27-9CAB-F7C611845902}" srcOrd="0" destOrd="0" presId="urn:microsoft.com/office/officeart/2008/layout/VerticalCurvedList"/>
    <dgm:cxn modelId="{9E1542AB-5F62-4458-B3B7-F774F9885983}" type="presParOf" srcId="{65C007FC-2227-446F-B28F-3AE917A579FA}" destId="{9067C949-F0DB-4A8E-9134-1DB28429A9F9}" srcOrd="0" destOrd="0" presId="urn:microsoft.com/office/officeart/2008/layout/VerticalCurvedList"/>
    <dgm:cxn modelId="{93884450-7648-4714-A0C8-0737D3539533}" type="presParOf" srcId="{9067C949-F0DB-4A8E-9134-1DB28429A9F9}" destId="{E8F995F1-F5C5-4447-B8F4-1A01C4369AD0}" srcOrd="0" destOrd="0" presId="urn:microsoft.com/office/officeart/2008/layout/VerticalCurvedList"/>
    <dgm:cxn modelId="{0D0117CE-BB11-40BB-8740-8330B21836B4}" type="presParOf" srcId="{E8F995F1-F5C5-4447-B8F4-1A01C4369AD0}" destId="{76FBE841-D36F-4A6D-8E0A-F4AAF7DAAC19}" srcOrd="0" destOrd="0" presId="urn:microsoft.com/office/officeart/2008/layout/VerticalCurvedList"/>
    <dgm:cxn modelId="{0679303A-C384-4E13-8873-03AF1345C79B}" type="presParOf" srcId="{E8F995F1-F5C5-4447-B8F4-1A01C4369AD0}" destId="{58353533-A5E8-461B-8E67-1C02D1A369F3}" srcOrd="1" destOrd="0" presId="urn:microsoft.com/office/officeart/2008/layout/VerticalCurvedList"/>
    <dgm:cxn modelId="{2567FCA1-12B3-40D4-87F8-799C57D49772}" type="presParOf" srcId="{E8F995F1-F5C5-4447-B8F4-1A01C4369AD0}" destId="{2343C722-B27A-4C07-9BB7-9B3071E3AFDF}" srcOrd="2" destOrd="0" presId="urn:microsoft.com/office/officeart/2008/layout/VerticalCurvedList"/>
    <dgm:cxn modelId="{0EE0F682-8EDC-46B6-BDB0-1C385CA856FF}" type="presParOf" srcId="{E8F995F1-F5C5-4447-B8F4-1A01C4369AD0}" destId="{F5002605-08AF-4F02-AF7E-D4D265B9BAF9}" srcOrd="3" destOrd="0" presId="urn:microsoft.com/office/officeart/2008/layout/VerticalCurvedList"/>
    <dgm:cxn modelId="{7C94E81F-FB39-45A0-BF7A-A4132B9A26C8}" type="presParOf" srcId="{9067C949-F0DB-4A8E-9134-1DB28429A9F9}" destId="{983DD2A0-AD89-44C6-958A-06CBFDB72C00}" srcOrd="1" destOrd="0" presId="urn:microsoft.com/office/officeart/2008/layout/VerticalCurvedList"/>
    <dgm:cxn modelId="{615B7C99-7E42-4F53-920F-59D865934F1F}" type="presParOf" srcId="{9067C949-F0DB-4A8E-9134-1DB28429A9F9}" destId="{5AEBD968-0FBB-4B34-BB0B-A717576B96B4}" srcOrd="2" destOrd="0" presId="urn:microsoft.com/office/officeart/2008/layout/VerticalCurvedList"/>
    <dgm:cxn modelId="{69F49A2C-5C2E-45A9-9F5A-64EC7BE67E2E}" type="presParOf" srcId="{5AEBD968-0FBB-4B34-BB0B-A717576B96B4}" destId="{83AC535D-08A9-4B88-B801-B124ADB8F602}" srcOrd="0" destOrd="0" presId="urn:microsoft.com/office/officeart/2008/layout/VerticalCurvedList"/>
    <dgm:cxn modelId="{2B743BD7-2658-4E11-89C9-6928EE348197}" type="presParOf" srcId="{9067C949-F0DB-4A8E-9134-1DB28429A9F9}" destId="{1E23C1F1-AE96-484C-9BCF-E6C85BA8F937}" srcOrd="3" destOrd="0" presId="urn:microsoft.com/office/officeart/2008/layout/VerticalCurvedList"/>
    <dgm:cxn modelId="{06B99DBD-F5BC-4A85-BED8-7DBD2CFAE1F4}" type="presParOf" srcId="{9067C949-F0DB-4A8E-9134-1DB28429A9F9}" destId="{C397265F-CF45-489B-9A9D-1E287522F865}" srcOrd="4" destOrd="0" presId="urn:microsoft.com/office/officeart/2008/layout/VerticalCurvedList"/>
    <dgm:cxn modelId="{32694A41-6388-4CF1-9B06-950864559FA3}" type="presParOf" srcId="{C397265F-CF45-489B-9A9D-1E287522F865}" destId="{3C345696-2D99-4CED-8A0C-B173D2F1A645}" srcOrd="0" destOrd="0" presId="urn:microsoft.com/office/officeart/2008/layout/VerticalCurvedList"/>
    <dgm:cxn modelId="{5E07A1F0-CF95-4ABC-BDF7-C8085A852767}" type="presParOf" srcId="{9067C949-F0DB-4A8E-9134-1DB28429A9F9}" destId="{556255FF-D444-4A27-9CAB-F7C611845902}" srcOrd="5" destOrd="0" presId="urn:microsoft.com/office/officeart/2008/layout/VerticalCurvedList"/>
    <dgm:cxn modelId="{1E8ABD3C-A8A3-4177-840D-F2694EC985A2}" type="presParOf" srcId="{9067C949-F0DB-4A8E-9134-1DB28429A9F9}" destId="{30F98CFB-EB39-42C4-821D-BBC9505E3A92}" srcOrd="6" destOrd="0" presId="urn:microsoft.com/office/officeart/2008/layout/VerticalCurvedList"/>
    <dgm:cxn modelId="{345B7956-B203-4ABD-9D76-340ADEC85798}" type="presParOf" srcId="{30F98CFB-EB39-42C4-821D-BBC9505E3A92}" destId="{7CE109FD-B763-45C1-AEAB-037ED4153FF3}" srcOrd="0" destOrd="0" presId="urn:microsoft.com/office/officeart/2008/layout/VerticalCurvedList"/>
    <dgm:cxn modelId="{FF5C22AA-14FE-4FC3-B3DB-895796CAB4A9}" type="presParOf" srcId="{9067C949-F0DB-4A8E-9134-1DB28429A9F9}" destId="{463EB520-4A94-4468-8241-8CE54AA4FAB0}" srcOrd="7" destOrd="0" presId="urn:microsoft.com/office/officeart/2008/layout/VerticalCurvedList"/>
    <dgm:cxn modelId="{94DA3110-00C3-4B48-AAC3-18B4EB7273CC}" type="presParOf" srcId="{9067C949-F0DB-4A8E-9134-1DB28429A9F9}" destId="{B60D9D39-8CDD-441A-A53D-83E6ACE9FD31}" srcOrd="8" destOrd="0" presId="urn:microsoft.com/office/officeart/2008/layout/VerticalCurvedList"/>
    <dgm:cxn modelId="{B4F93137-DAE4-4CB8-9B19-47A78655BE9E}" type="presParOf" srcId="{B60D9D39-8CDD-441A-A53D-83E6ACE9FD31}" destId="{49C8CF96-42DC-4CD7-9569-69345D08D344}" srcOrd="0" destOrd="0" presId="urn:microsoft.com/office/officeart/2008/layout/VerticalCurvedList"/>
    <dgm:cxn modelId="{CF3D6915-1235-439C-ACDE-0D68FAC2949B}" type="presParOf" srcId="{9067C949-F0DB-4A8E-9134-1DB28429A9F9}" destId="{843C8645-6F94-4122-AF4F-AC2CDD29026F}" srcOrd="9" destOrd="0" presId="urn:microsoft.com/office/officeart/2008/layout/VerticalCurvedList"/>
    <dgm:cxn modelId="{EBEABEA2-58C2-4EA6-8569-650D93822FD4}" type="presParOf" srcId="{9067C949-F0DB-4A8E-9134-1DB28429A9F9}" destId="{FDB5AA53-A9AC-4484-A67C-99D8B3CDF8F4}" srcOrd="10" destOrd="0" presId="urn:microsoft.com/office/officeart/2008/layout/VerticalCurvedList"/>
    <dgm:cxn modelId="{2F710E5C-9646-42CB-98BF-469651D32401}" type="presParOf" srcId="{FDB5AA53-A9AC-4484-A67C-99D8B3CDF8F4}" destId="{FA769782-CCFB-49AC-82C9-BB2600357E25}" srcOrd="0" destOrd="0" presId="urn:microsoft.com/office/officeart/2008/layout/VerticalCurvedList"/>
    <dgm:cxn modelId="{16011354-11F5-4A66-B0B8-685135E803D9}" type="presParOf" srcId="{9067C949-F0DB-4A8E-9134-1DB28429A9F9}" destId="{0C739C65-266C-46FF-8011-6C1583535B27}" srcOrd="11" destOrd="0" presId="urn:microsoft.com/office/officeart/2008/layout/VerticalCurvedList"/>
    <dgm:cxn modelId="{B49E2FEF-280C-4217-9DB8-1A294D939DA6}" type="presParOf" srcId="{9067C949-F0DB-4A8E-9134-1DB28429A9F9}" destId="{E30B08BB-18FE-49F6-B662-F885116829C1}" srcOrd="12" destOrd="0" presId="urn:microsoft.com/office/officeart/2008/layout/VerticalCurvedList"/>
    <dgm:cxn modelId="{1F66C384-C280-4B21-AE74-332543D84B43}" type="presParOf" srcId="{E30B08BB-18FE-49F6-B662-F885116829C1}" destId="{8B4C7BC5-A30C-433E-B59A-0F1AEFDF8061}" srcOrd="0" destOrd="0" presId="urn:microsoft.com/office/officeart/2008/layout/VerticalCurvedList"/>
    <dgm:cxn modelId="{CC733C8E-CA02-4D52-8C71-EC97058F9C5E}" type="presParOf" srcId="{9067C949-F0DB-4A8E-9134-1DB28429A9F9}" destId="{61A04455-5431-4FF3-99A7-F248D2D4C381}" srcOrd="13" destOrd="0" presId="urn:microsoft.com/office/officeart/2008/layout/VerticalCurvedList"/>
    <dgm:cxn modelId="{F24F1161-2C9F-47BF-8BF1-5DE525C646BF}" type="presParOf" srcId="{9067C949-F0DB-4A8E-9134-1DB28429A9F9}" destId="{D96AE43A-4B6B-49C3-9496-37FDB720DCA0}" srcOrd="14" destOrd="0" presId="urn:microsoft.com/office/officeart/2008/layout/VerticalCurvedList"/>
    <dgm:cxn modelId="{CF1CE27F-757A-47D2-973A-11089AA30BE6}" type="presParOf" srcId="{D96AE43A-4B6B-49C3-9496-37FDB720DCA0}" destId="{8AE0676F-C5DF-42A7-A5D3-1C62E34AABD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9C277-0537-48A9-9B38-7C28F2FFAE14}">
      <dsp:nvSpPr>
        <dsp:cNvPr id="0" name=""/>
        <dsp:cNvSpPr/>
      </dsp:nvSpPr>
      <dsp:spPr>
        <a:xfrm>
          <a:off x="1205672" y="846825"/>
          <a:ext cx="1522995" cy="1523070"/>
        </a:xfrm>
        <a:prstGeom prst="ellipse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70" tIns="52070" rIns="52070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GPA</a:t>
          </a:r>
          <a:endParaRPr lang="en-TO" sz="4100" kern="1200" dirty="0"/>
        </a:p>
      </dsp:txBody>
      <dsp:txXfrm>
        <a:off x="1428709" y="1069873"/>
        <a:ext cx="1076921" cy="1076974"/>
      </dsp:txXfrm>
    </dsp:sp>
    <dsp:sp modelId="{D988C1EC-36CD-4255-8CC1-FF82700C0A2E}">
      <dsp:nvSpPr>
        <dsp:cNvPr id="0" name=""/>
        <dsp:cNvSpPr/>
      </dsp:nvSpPr>
      <dsp:spPr>
        <a:xfrm>
          <a:off x="420285" y="0"/>
          <a:ext cx="3070106" cy="320040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CEDFC8-BF08-4F43-8997-0A72CB7C42A1}">
      <dsp:nvSpPr>
        <dsp:cNvPr id="0" name=""/>
        <dsp:cNvSpPr/>
      </dsp:nvSpPr>
      <dsp:spPr>
        <a:xfrm>
          <a:off x="2680888" y="269793"/>
          <a:ext cx="815873" cy="81610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B0DC30-8D22-4BF6-9460-2D7B9C8549B6}">
      <dsp:nvSpPr>
        <dsp:cNvPr id="0" name=""/>
        <dsp:cNvSpPr/>
      </dsp:nvSpPr>
      <dsp:spPr>
        <a:xfrm>
          <a:off x="3558647" y="282915"/>
          <a:ext cx="1092078" cy="789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200" b="1" kern="1200"/>
            <a:t>National resilience</a:t>
          </a:r>
          <a:endParaRPr lang="en-TO" sz="1200" b="1" kern="1200"/>
        </a:p>
      </dsp:txBody>
      <dsp:txXfrm>
        <a:off x="3558647" y="282915"/>
        <a:ext cx="1092078" cy="789858"/>
      </dsp:txXfrm>
    </dsp:sp>
    <dsp:sp modelId="{5EF9C022-C49E-44F1-B942-97C0CC3E0AE4}">
      <dsp:nvSpPr>
        <dsp:cNvPr id="0" name=""/>
        <dsp:cNvSpPr/>
      </dsp:nvSpPr>
      <dsp:spPr>
        <a:xfrm>
          <a:off x="2996226" y="1198229"/>
          <a:ext cx="815873" cy="816102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0" r="-30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3FE6D-51E9-464C-92A3-6006F527AD2C}">
      <dsp:nvSpPr>
        <dsp:cNvPr id="0" name=""/>
        <dsp:cNvSpPr/>
      </dsp:nvSpPr>
      <dsp:spPr>
        <a:xfrm>
          <a:off x="3878535" y="1209751"/>
          <a:ext cx="1092078" cy="789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200" b="1" kern="1200" dirty="0"/>
            <a:t>Social sector development</a:t>
          </a:r>
          <a:endParaRPr lang="en-TO" sz="1200" b="1" kern="1200" dirty="0"/>
        </a:p>
      </dsp:txBody>
      <dsp:txXfrm>
        <a:off x="3878535" y="1209751"/>
        <a:ext cx="1092078" cy="789858"/>
      </dsp:txXfrm>
    </dsp:sp>
    <dsp:sp modelId="{1DB1E121-9427-45C7-97E3-95FD7298680B}">
      <dsp:nvSpPr>
        <dsp:cNvPr id="0" name=""/>
        <dsp:cNvSpPr/>
      </dsp:nvSpPr>
      <dsp:spPr>
        <a:xfrm>
          <a:off x="2680888" y="2139787"/>
          <a:ext cx="815873" cy="81610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DFF5BF-29EB-4CD5-B01D-FD78AA0F9B64}">
      <dsp:nvSpPr>
        <dsp:cNvPr id="0" name=""/>
        <dsp:cNvSpPr/>
      </dsp:nvSpPr>
      <dsp:spPr>
        <a:xfrm>
          <a:off x="3439594" y="2156429"/>
          <a:ext cx="1922856" cy="789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200" b="1" kern="1200" dirty="0"/>
            <a:t>Economic &amp; Public sector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200" b="1" kern="1200" dirty="0"/>
            <a:t>Development</a:t>
          </a:r>
          <a:endParaRPr lang="en-TO" sz="1200" b="1" kern="1200" dirty="0"/>
        </a:p>
      </dsp:txBody>
      <dsp:txXfrm>
        <a:off x="3439594" y="2156429"/>
        <a:ext cx="1922856" cy="7898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353533-A5E8-461B-8E67-1C02D1A369F3}">
      <dsp:nvSpPr>
        <dsp:cNvPr id="0" name=""/>
        <dsp:cNvSpPr/>
      </dsp:nvSpPr>
      <dsp:spPr>
        <a:xfrm>
          <a:off x="-5939301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3DD2A0-AD89-44C6-958A-06CBFDB72C00}">
      <dsp:nvSpPr>
        <dsp:cNvPr id="0" name=""/>
        <dsp:cNvSpPr/>
      </dsp:nvSpPr>
      <dsp:spPr>
        <a:xfrm>
          <a:off x="947564" y="246332"/>
          <a:ext cx="6907526" cy="492448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88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bg1"/>
              </a:solidFill>
            </a:rPr>
            <a:t>1. Climate &amp; Disaster Resilience</a:t>
          </a:r>
          <a:endParaRPr lang="en-TO" sz="2500" kern="1200" dirty="0">
            <a:solidFill>
              <a:schemeClr val="bg1"/>
            </a:solidFill>
          </a:endParaRPr>
        </a:p>
      </dsp:txBody>
      <dsp:txXfrm>
        <a:off x="947564" y="246332"/>
        <a:ext cx="6907526" cy="492448"/>
      </dsp:txXfrm>
    </dsp:sp>
    <dsp:sp modelId="{83AC535D-08A9-4B88-B801-B124ADB8F602}">
      <dsp:nvSpPr>
        <dsp:cNvPr id="0" name=""/>
        <dsp:cNvSpPr/>
      </dsp:nvSpPr>
      <dsp:spPr>
        <a:xfrm>
          <a:off x="255776" y="184776"/>
          <a:ext cx="615560" cy="6155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23C1F1-AE96-484C-9BCF-E6C85BA8F937}">
      <dsp:nvSpPr>
        <dsp:cNvPr id="0" name=""/>
        <dsp:cNvSpPr/>
      </dsp:nvSpPr>
      <dsp:spPr>
        <a:xfrm>
          <a:off x="1393512" y="985438"/>
          <a:ext cx="6461586" cy="492448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88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bg1"/>
              </a:solidFill>
            </a:rPr>
            <a:t>2. Combat Illicit Drugs</a:t>
          </a:r>
          <a:endParaRPr lang="en-TO" sz="2500" kern="1200" dirty="0">
            <a:solidFill>
              <a:schemeClr val="bg1"/>
            </a:solidFill>
          </a:endParaRPr>
        </a:p>
      </dsp:txBody>
      <dsp:txXfrm>
        <a:off x="1393512" y="985438"/>
        <a:ext cx="6461586" cy="492448"/>
      </dsp:txXfrm>
    </dsp:sp>
    <dsp:sp modelId="{3C345696-2D99-4CED-8A0C-B173D2F1A645}">
      <dsp:nvSpPr>
        <dsp:cNvPr id="0" name=""/>
        <dsp:cNvSpPr/>
      </dsp:nvSpPr>
      <dsp:spPr>
        <a:xfrm>
          <a:off x="701732" y="923882"/>
          <a:ext cx="615560" cy="6155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6255FF-D444-4A27-9CAB-F7C611845902}">
      <dsp:nvSpPr>
        <dsp:cNvPr id="0" name=""/>
        <dsp:cNvSpPr/>
      </dsp:nvSpPr>
      <dsp:spPr>
        <a:xfrm>
          <a:off x="1624914" y="1724003"/>
          <a:ext cx="6243165" cy="492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88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bg1"/>
              </a:solidFill>
            </a:rPr>
            <a:t>3. Poverty Reduction &amp; Vulnerable Groups</a:t>
          </a:r>
          <a:endParaRPr lang="en-TO" sz="2500" kern="1200" dirty="0">
            <a:solidFill>
              <a:schemeClr val="bg1"/>
            </a:solidFill>
          </a:endParaRPr>
        </a:p>
      </dsp:txBody>
      <dsp:txXfrm>
        <a:off x="1624914" y="1724003"/>
        <a:ext cx="6243165" cy="492448"/>
      </dsp:txXfrm>
    </dsp:sp>
    <dsp:sp modelId="{7CE109FD-B763-45C1-AEAB-037ED4153FF3}">
      <dsp:nvSpPr>
        <dsp:cNvPr id="0" name=""/>
        <dsp:cNvSpPr/>
      </dsp:nvSpPr>
      <dsp:spPr>
        <a:xfrm>
          <a:off x="946114" y="1662447"/>
          <a:ext cx="615560" cy="6155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3EB520-4A94-4468-8241-8CE54AA4FAB0}">
      <dsp:nvSpPr>
        <dsp:cNvPr id="0" name=""/>
        <dsp:cNvSpPr/>
      </dsp:nvSpPr>
      <dsp:spPr>
        <a:xfrm>
          <a:off x="1698798" y="2463109"/>
          <a:ext cx="6173425" cy="492448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88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bg1"/>
              </a:solidFill>
            </a:rPr>
            <a:t>4. Quality Education</a:t>
          </a:r>
          <a:endParaRPr lang="en-TO" sz="2500" kern="1200" dirty="0">
            <a:solidFill>
              <a:schemeClr val="bg1"/>
            </a:solidFill>
          </a:endParaRPr>
        </a:p>
      </dsp:txBody>
      <dsp:txXfrm>
        <a:off x="1698798" y="2463109"/>
        <a:ext cx="6173425" cy="492448"/>
      </dsp:txXfrm>
    </dsp:sp>
    <dsp:sp modelId="{49C8CF96-42DC-4CD7-9569-69345D08D344}">
      <dsp:nvSpPr>
        <dsp:cNvPr id="0" name=""/>
        <dsp:cNvSpPr/>
      </dsp:nvSpPr>
      <dsp:spPr>
        <a:xfrm>
          <a:off x="1024143" y="2401553"/>
          <a:ext cx="615560" cy="6155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3C8645-6F94-4122-AF4F-AC2CDD29026F}">
      <dsp:nvSpPr>
        <dsp:cNvPr id="0" name=""/>
        <dsp:cNvSpPr/>
      </dsp:nvSpPr>
      <dsp:spPr>
        <a:xfrm>
          <a:off x="1624914" y="3202215"/>
          <a:ext cx="6243165" cy="492448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88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bg1"/>
              </a:solidFill>
            </a:rPr>
            <a:t>5. Quality &amp; Affordable Healthcare</a:t>
          </a:r>
          <a:endParaRPr lang="en-TO" sz="2500" kern="1200" dirty="0">
            <a:solidFill>
              <a:schemeClr val="bg1"/>
            </a:solidFill>
          </a:endParaRPr>
        </a:p>
      </dsp:txBody>
      <dsp:txXfrm>
        <a:off x="1624914" y="3202215"/>
        <a:ext cx="6243165" cy="492448"/>
      </dsp:txXfrm>
    </dsp:sp>
    <dsp:sp modelId="{FA769782-CCFB-49AC-82C9-BB2600357E25}">
      <dsp:nvSpPr>
        <dsp:cNvPr id="0" name=""/>
        <dsp:cNvSpPr/>
      </dsp:nvSpPr>
      <dsp:spPr>
        <a:xfrm>
          <a:off x="946114" y="3140659"/>
          <a:ext cx="615560" cy="6155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739C65-266C-46FF-8011-6C1583535B27}">
      <dsp:nvSpPr>
        <dsp:cNvPr id="0" name=""/>
        <dsp:cNvSpPr/>
      </dsp:nvSpPr>
      <dsp:spPr>
        <a:xfrm>
          <a:off x="1393512" y="3940779"/>
          <a:ext cx="6461586" cy="492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88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6. Economic Growth</a:t>
          </a:r>
          <a:endParaRPr lang="en-TO" sz="2500" kern="1200" dirty="0"/>
        </a:p>
      </dsp:txBody>
      <dsp:txXfrm>
        <a:off x="1393512" y="3940779"/>
        <a:ext cx="6461586" cy="492448"/>
      </dsp:txXfrm>
    </dsp:sp>
    <dsp:sp modelId="{8B4C7BC5-A30C-433E-B59A-0F1AEFDF8061}">
      <dsp:nvSpPr>
        <dsp:cNvPr id="0" name=""/>
        <dsp:cNvSpPr/>
      </dsp:nvSpPr>
      <dsp:spPr>
        <a:xfrm>
          <a:off x="701732" y="3879223"/>
          <a:ext cx="615560" cy="6155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04455-5431-4FF3-99A7-F248D2D4C381}">
      <dsp:nvSpPr>
        <dsp:cNvPr id="0" name=""/>
        <dsp:cNvSpPr/>
      </dsp:nvSpPr>
      <dsp:spPr>
        <a:xfrm>
          <a:off x="971243" y="4679885"/>
          <a:ext cx="6860168" cy="492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88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7. Public Sector Efficiency</a:t>
          </a:r>
          <a:endParaRPr lang="en-TO" sz="2500" kern="1200" dirty="0"/>
        </a:p>
      </dsp:txBody>
      <dsp:txXfrm>
        <a:off x="971243" y="4679885"/>
        <a:ext cx="6860168" cy="492448"/>
      </dsp:txXfrm>
    </dsp:sp>
    <dsp:sp modelId="{8AE0676F-C5DF-42A7-A5D3-1C62E34AABD2}">
      <dsp:nvSpPr>
        <dsp:cNvPr id="0" name=""/>
        <dsp:cNvSpPr/>
      </dsp:nvSpPr>
      <dsp:spPr>
        <a:xfrm>
          <a:off x="255776" y="4618329"/>
          <a:ext cx="615560" cy="6155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5D1D7-8770-488B-AF4C-3E361949E2FD}" type="datetimeFigureOut">
              <a:rPr lang="en-TO" smtClean="0"/>
              <a:t>23/11/2025</a:t>
            </a:fld>
            <a:endParaRPr lang="en-T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2D8185-39C1-45F0-A6C5-B4A57C66C643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153647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 Government Priority Areas fall under 3 broad themes.</a:t>
            </a:r>
          </a:p>
          <a:p>
            <a:endParaRPr lang="en-US" dirty="0"/>
          </a:p>
          <a:p>
            <a:endParaRPr lang="en-US" dirty="0"/>
          </a:p>
          <a:p>
            <a:endParaRPr lang="en-T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D8185-39C1-45F0-A6C5-B4A57C66C643}" type="slidenum">
              <a:rPr lang="en-TO" smtClean="0"/>
              <a:t>1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1838382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760F-C422-921F-B1CC-D1977C5EE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018BC-515F-E5E0-C2F1-42C3D2FA8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9DF10-ED4F-5FC2-6DDC-5CE0101D4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CE87-4F08-40C7-AFDC-046675DE8221}" type="datetimeFigureOut">
              <a:rPr lang="en-TO" smtClean="0"/>
              <a:t>21/11/2025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7C01F-F7A7-E63B-9792-E40A93610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C87CE-F1E2-147B-938D-F955660B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866-1757-43F9-8822-D71051A584A2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410171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E4E0-DB04-6405-590E-476CF4F4B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9C09D-A161-0ABE-A36F-683E925ED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A755F-04F5-8C7E-FC6B-FD0E51947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CE87-4F08-40C7-AFDC-046675DE8221}" type="datetimeFigureOut">
              <a:rPr lang="en-TO" smtClean="0"/>
              <a:t>21/11/2025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0F45B-9D50-9C16-D95B-1AF64B82A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4D9FA-0445-FB80-2FE4-84E23634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866-1757-43F9-8822-D71051A584A2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3532420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8C7-8351-ED6D-49C1-221AD8180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37A8E-8FBF-8423-8426-D2F67CDD0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BAB4C-80EA-F853-6918-615A58B47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CE87-4F08-40C7-AFDC-046675DE8221}" type="datetimeFigureOut">
              <a:rPr lang="en-TO" smtClean="0"/>
              <a:t>21/11/2025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EF9EB-E76F-5B14-D507-D488D1BCC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4668C-FA04-84B7-02CC-E7391760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866-1757-43F9-8822-D71051A584A2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2164502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28B7-876D-96D3-8461-0A2052F37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4179F-03E4-C2B7-E193-8668EFDC1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4A8A1-7C3E-1C34-EF0C-4B19B7AC7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1132F-E0CB-868E-F475-87F2FAEAF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CE87-4F08-40C7-AFDC-046675DE8221}" type="datetimeFigureOut">
              <a:rPr lang="en-TO" smtClean="0"/>
              <a:t>21/11/2025</a:t>
            </a:fld>
            <a:endParaRPr lang="en-T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974E2-07B2-E017-B38D-54751938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E2BB3-E6AB-4B6D-679D-05250FAFC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866-1757-43F9-8822-D71051A584A2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2461987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7F1A2-F535-76F2-A842-61D49A524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E5B87-7323-E24A-2445-B307A87F8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CD8AF-B5DA-9BA0-1FAE-120E8537A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A48C3-E8C5-66BF-A152-14548AA8B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82B9F-D447-442A-D3F8-1D16226AF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844000-ECCB-2444-22C2-99396D31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CE87-4F08-40C7-AFDC-046675DE8221}" type="datetimeFigureOut">
              <a:rPr lang="en-TO" smtClean="0"/>
              <a:t>21/11/2025</a:t>
            </a:fld>
            <a:endParaRPr lang="en-T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8B6D92-69DC-4B98-D3FB-06074E75D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C88C48-4B97-DD97-4A58-C6EC8BEC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866-1757-43F9-8822-D71051A584A2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1772937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BAF54-2FCA-92D7-4E94-3CA414AA3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EEDA78-2F64-924D-9012-E8FFAA059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CE87-4F08-40C7-AFDC-046675DE8221}" type="datetimeFigureOut">
              <a:rPr lang="en-TO" smtClean="0"/>
              <a:t>21/11/2025</a:t>
            </a:fld>
            <a:endParaRPr lang="en-T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B6614-7882-19E2-1DE6-D939E7C41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F5BBF-0317-7F39-A831-9FFBA568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866-1757-43F9-8822-D71051A584A2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272376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112D3-2A39-146A-FDD9-C74180321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CE87-4F08-40C7-AFDC-046675DE8221}" type="datetimeFigureOut">
              <a:rPr lang="en-TO" smtClean="0"/>
              <a:t>21/11/2025</a:t>
            </a:fld>
            <a:endParaRPr lang="en-T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987DB-F7CF-AC94-1E91-D9A9E69C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87339-9415-4C91-8787-49DF4D6F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866-1757-43F9-8822-D71051A584A2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257847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EF527-3E23-E329-37CB-14DBE6E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5E0E0-1791-6BD2-16B5-DD98194EA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8724A-AC42-F3E4-16D9-47808259A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2F674-1002-2125-6F3D-5A2286559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CE87-4F08-40C7-AFDC-046675DE8221}" type="datetimeFigureOut">
              <a:rPr lang="en-TO" smtClean="0"/>
              <a:t>21/11/2025</a:t>
            </a:fld>
            <a:endParaRPr lang="en-T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E2A57-CC62-75E7-803D-6F130C329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8E10A-C3DF-7DC1-18A7-019094B05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866-1757-43F9-8822-D71051A584A2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591671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3178-CE9D-FDCF-9E4B-25A87DEB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272116-8FF4-F8D4-936B-306DCD827E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A752A-42F1-4DC2-DB32-C97D8B8AF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2ADC8-0C9E-2F52-2D8E-AA5BC1CD9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CE87-4F08-40C7-AFDC-046675DE8221}" type="datetimeFigureOut">
              <a:rPr lang="en-TO" smtClean="0"/>
              <a:t>21/11/2025</a:t>
            </a:fld>
            <a:endParaRPr lang="en-T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3EEBB-86F4-30B2-0963-B0AAF46BB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C5C08-6D76-667B-A20F-599B1692B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866-1757-43F9-8822-D71051A584A2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25713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B02CB-FA43-6796-1560-078D26863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1951F-C430-1474-9728-7C82394BF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4F5CC-A823-830B-1F8B-814ED4426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CE87-4F08-40C7-AFDC-046675DE8221}" type="datetimeFigureOut">
              <a:rPr lang="en-TO" smtClean="0"/>
              <a:t>21/11/2025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11A03-CFEB-F74C-7F44-0C9F73118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CE045-5B83-45D7-9E34-93924C836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866-1757-43F9-8822-D71051A584A2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26729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17D573-7222-F6CC-0B95-E3E3A26DA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025B8-155B-B080-9ECA-29160A2F3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35759-921D-B6AA-F448-82DE9BC4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CE87-4F08-40C7-AFDC-046675DE8221}" type="datetimeFigureOut">
              <a:rPr lang="en-TO" smtClean="0"/>
              <a:t>21/11/2025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4755F-28CA-A015-6D8A-278A2739F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0B271-99D2-1D3F-713D-EABBF833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866-1757-43F9-8822-D71051A584A2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4715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8EDDC2-5805-58F3-ED69-7EDA14907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95B79-7AA0-86A4-4671-2309B4CE1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C330B-55BB-8E37-8D81-D0AF30B9F8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DBCE87-4F08-40C7-AFDC-046675DE8221}" type="datetimeFigureOut">
              <a:rPr lang="en-TO" smtClean="0"/>
              <a:t>21/11/2025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326CB-7F57-87CE-498F-D1F4221A6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24302-0A00-502E-B803-3F58FB05F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D3866-1757-43F9-8822-D71051A584A2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149929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1464D6-9403-D3BE-C024-2DCB6D385D73}"/>
              </a:ext>
            </a:extLst>
          </p:cNvPr>
          <p:cNvSpPr txBox="1">
            <a:spLocks/>
          </p:cNvSpPr>
          <p:nvPr/>
        </p:nvSpPr>
        <p:spPr>
          <a:xfrm>
            <a:off x="150226" y="1414561"/>
            <a:ext cx="514984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b="1" dirty="0">
                <a:solidFill>
                  <a:schemeClr val="bg1"/>
                </a:solidFill>
              </a:rPr>
              <a:t>Government Priority Areas</a:t>
            </a:r>
            <a:endParaRPr lang="en-TO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104A121-E8C1-39F1-05C1-3A0A42F4FD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7247681"/>
              </p:ext>
            </p:extLst>
          </p:nvPr>
        </p:nvGraphicFramePr>
        <p:xfrm>
          <a:off x="-361950" y="1990030"/>
          <a:ext cx="54864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4CB695F-09B6-969F-1577-B930324104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8790222"/>
              </p:ext>
            </p:extLst>
          </p:nvPr>
        </p:nvGraphicFramePr>
        <p:xfrm>
          <a:off x="4268485" y="102344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27A17C0-60DE-2954-E851-85476BE21F8D}"/>
              </a:ext>
            </a:extLst>
          </p:cNvPr>
          <p:cNvSpPr txBox="1"/>
          <p:nvPr/>
        </p:nvSpPr>
        <p:spPr>
          <a:xfrm>
            <a:off x="1731008" y="1517630"/>
            <a:ext cx="6300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 Objectives</a:t>
            </a:r>
            <a:endParaRPr lang="en-TO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E32191-ABA1-087A-56E6-C618F2A72C03}"/>
              </a:ext>
            </a:extLst>
          </p:cNvPr>
          <p:cNvSpPr/>
          <p:nvPr/>
        </p:nvSpPr>
        <p:spPr>
          <a:xfrm>
            <a:off x="1765733" y="1817227"/>
            <a:ext cx="1443134" cy="697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12" name="Google Shape;660;g30681c6d285_0_0">
            <a:extLst>
              <a:ext uri="{FF2B5EF4-FFF2-40B4-BE49-F238E27FC236}">
                <a16:creationId xmlns:a16="http://schemas.microsoft.com/office/drawing/2014/main" id="{20B6AD8E-7BC9-5A51-4625-AFE3CB54AF13}"/>
              </a:ext>
            </a:extLst>
          </p:cNvPr>
          <p:cNvSpPr/>
          <p:nvPr/>
        </p:nvSpPr>
        <p:spPr>
          <a:xfrm>
            <a:off x="-530929" y="-8475"/>
            <a:ext cx="6499991" cy="1055738"/>
          </a:xfrm>
          <a:prstGeom prst="parallelogram">
            <a:avLst>
              <a:gd name="adj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71600" lvl="2" indent="-457200" algn="l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8E5476-EF72-6783-B8DF-105BAA8CE443}"/>
              </a:ext>
            </a:extLst>
          </p:cNvPr>
          <p:cNvSpPr txBox="1"/>
          <p:nvPr/>
        </p:nvSpPr>
        <p:spPr>
          <a:xfrm>
            <a:off x="-74040" y="347232"/>
            <a:ext cx="537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Government Priority Areas</a:t>
            </a:r>
            <a:endParaRPr lang="en-TO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38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6BB3B-CF17-27D2-9CD4-AEE63801F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BD8B73-04C5-6CD3-D915-0550A1AB16E4}"/>
              </a:ext>
            </a:extLst>
          </p:cNvPr>
          <p:cNvSpPr/>
          <p:nvPr/>
        </p:nvSpPr>
        <p:spPr>
          <a:xfrm>
            <a:off x="0" y="1"/>
            <a:ext cx="12192000" cy="976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D4C43-D51C-D4AE-5D30-0B3BBD15E7DC}"/>
              </a:ext>
            </a:extLst>
          </p:cNvPr>
          <p:cNvSpPr txBox="1"/>
          <p:nvPr/>
        </p:nvSpPr>
        <p:spPr>
          <a:xfrm>
            <a:off x="33131" y="133196"/>
            <a:ext cx="12092608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Domestic Economy</a:t>
            </a:r>
            <a:endParaRPr lang="en-TO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1EC7BD30-1E45-31DD-E265-E7274116A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49" y="1169219"/>
            <a:ext cx="6544269" cy="35843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A6F342-BE9C-9386-8090-9B82027BB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34" y="4988914"/>
            <a:ext cx="6319297" cy="81997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BF3B9C-703C-3B15-EE34-1921FF0C697E}"/>
              </a:ext>
            </a:extLst>
          </p:cNvPr>
          <p:cNvCxnSpPr>
            <a:cxnSpLocks/>
          </p:cNvCxnSpPr>
          <p:nvPr/>
        </p:nvCxnSpPr>
        <p:spPr>
          <a:xfrm>
            <a:off x="6950765" y="1106557"/>
            <a:ext cx="0" cy="567193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7A378EE-F777-DABF-3416-6B6D2E659C8B}"/>
              </a:ext>
            </a:extLst>
          </p:cNvPr>
          <p:cNvSpPr/>
          <p:nvPr/>
        </p:nvSpPr>
        <p:spPr>
          <a:xfrm>
            <a:off x="7202399" y="1169219"/>
            <a:ext cx="4609767" cy="46782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E0EC68-B603-80C9-BD0F-AD3AF577F4B5}"/>
              </a:ext>
            </a:extLst>
          </p:cNvPr>
          <p:cNvSpPr txBox="1"/>
          <p:nvPr/>
        </p:nvSpPr>
        <p:spPr>
          <a:xfrm>
            <a:off x="7272131" y="1391756"/>
            <a:ext cx="4416286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/>
              <a:t>Tonga saw a moderation of growth in </a:t>
            </a:r>
            <a:r>
              <a:rPr lang="en-US" sz="1400" b="1" dirty="0"/>
              <a:t>FY24</a:t>
            </a:r>
            <a:r>
              <a:rPr lang="en-US" sz="1400" dirty="0"/>
              <a:t> </a:t>
            </a:r>
            <a:r>
              <a:rPr lang="en-US" sz="1400" b="1" dirty="0"/>
              <a:t>to</a:t>
            </a:r>
            <a:r>
              <a:rPr lang="en-US" sz="1400" dirty="0"/>
              <a:t> </a:t>
            </a:r>
            <a:r>
              <a:rPr lang="en-US" sz="1400" b="1" dirty="0"/>
              <a:t>1.7% </a:t>
            </a:r>
            <a:r>
              <a:rPr lang="en-US" sz="1400" dirty="0"/>
              <a:t>(actual) due to a fall in agricultural output (compared to FY23) - despite consistent remittance flows and continued tourism recovery.</a:t>
            </a:r>
          </a:p>
          <a:p>
            <a:pPr marL="285750" indent="-285750">
              <a:buFontTx/>
              <a:buChar char="-"/>
            </a:pPr>
            <a:endParaRPr lang="en-US" sz="1400" b="1" dirty="0"/>
          </a:p>
          <a:p>
            <a:pPr marL="285750" indent="-285750">
              <a:buFontTx/>
              <a:buChar char="-"/>
            </a:pPr>
            <a:r>
              <a:rPr lang="en-US" sz="1400" dirty="0"/>
              <a:t>The economy expanded by</a:t>
            </a:r>
            <a:r>
              <a:rPr lang="en-US" sz="1400" b="1" dirty="0"/>
              <a:t> 2.7% in FY25</a:t>
            </a:r>
            <a:r>
              <a:rPr lang="en-US" sz="1400" dirty="0"/>
              <a:t>, supported by robust reconstruction activity, strong remittance inflows, a rebound in tourism, and stronger-than-expected grants inflows. </a:t>
            </a:r>
            <a:endParaRPr lang="en-US" sz="1400" b="1" dirty="0"/>
          </a:p>
          <a:p>
            <a:pPr marL="171450" indent="-171450">
              <a:buFontTx/>
              <a:buChar char="-"/>
            </a:pPr>
            <a:endParaRPr lang="en-US" sz="1400" dirty="0"/>
          </a:p>
          <a:p>
            <a:pPr marL="171450" indent="-171450">
              <a:buFontTx/>
              <a:buChar char="-"/>
            </a:pPr>
            <a:r>
              <a:rPr lang="en-US" sz="1400" b="1" dirty="0"/>
              <a:t>Outlook: </a:t>
            </a:r>
            <a:r>
              <a:rPr lang="en-US" sz="1400" dirty="0"/>
              <a:t>Projections are optimistic in the medium term mainly due to major construction projects such as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100" dirty="0"/>
              <a:t>Major construction projects (</a:t>
            </a:r>
            <a:r>
              <a:rPr lang="en-US" sz="1100" dirty="0" err="1"/>
              <a:t>Fangauta</a:t>
            </a:r>
            <a:r>
              <a:rPr lang="en-US" sz="1100" dirty="0"/>
              <a:t> Bridge (US$102m), </a:t>
            </a:r>
            <a:r>
              <a:rPr lang="en-US" sz="1100" dirty="0" err="1"/>
              <a:t>Fuaamotu</a:t>
            </a:r>
            <a:r>
              <a:rPr lang="en-US" sz="1100" dirty="0"/>
              <a:t> Resort ($US56m), Tonga Museum ($16.7m), Queen Salote nursing, </a:t>
            </a:r>
            <a:r>
              <a:rPr lang="en-US" sz="1100" dirty="0" err="1"/>
              <a:t>Vava’u</a:t>
            </a:r>
            <a:r>
              <a:rPr lang="en-US" sz="1100" dirty="0"/>
              <a:t> hospital $15m, GRID Project $16m)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100" dirty="0"/>
              <a:t>Improved Tourism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100" dirty="0"/>
              <a:t>Strengthened revenue administration through E</a:t>
            </a:r>
            <a:r>
              <a:rPr lang="en-US" sz="1100" dirty="0">
                <a:latin typeface="Aptos" panose="020B0004020202020204" pitchFamily="34" charset="0"/>
              </a:rPr>
              <a:t>SRS adoptions across Tonga generating 179% revenue against CT estimates</a:t>
            </a:r>
            <a:endParaRPr lang="en-US" sz="1400" dirty="0"/>
          </a:p>
          <a:p>
            <a:pPr marL="171450" indent="-171450">
              <a:buFontTx/>
              <a:buChar char="-"/>
            </a:pPr>
            <a:endParaRPr lang="en-US" sz="1400" b="1" dirty="0"/>
          </a:p>
          <a:p>
            <a:pPr marL="171450" indent="-171450">
              <a:buFontTx/>
              <a:buChar char="-"/>
            </a:pPr>
            <a:endParaRPr lang="en-TO" sz="14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93CCC03-748D-4B61-9B76-C2908803A4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49" y="1169219"/>
            <a:ext cx="6534458" cy="358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85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D0029-80DE-94AF-3031-970A532C0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E59BD7-E205-9F3B-63C3-7BA6F08B89E0}"/>
              </a:ext>
            </a:extLst>
          </p:cNvPr>
          <p:cNvSpPr/>
          <p:nvPr/>
        </p:nvSpPr>
        <p:spPr>
          <a:xfrm>
            <a:off x="0" y="1"/>
            <a:ext cx="12192000" cy="976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C57F0-1FE1-19AA-8240-0B954B081852}"/>
              </a:ext>
            </a:extLst>
          </p:cNvPr>
          <p:cNvSpPr txBox="1"/>
          <p:nvPr/>
        </p:nvSpPr>
        <p:spPr>
          <a:xfrm>
            <a:off x="33131" y="133196"/>
            <a:ext cx="12092608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Indicators</a:t>
            </a:r>
            <a:endParaRPr lang="en-TO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F8CE2D-91D6-B055-1475-C4828BB76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29" y="4031333"/>
            <a:ext cx="2743335" cy="147390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C7D607-2CB4-BDEE-80C8-B5EBC7FB7E2A}"/>
              </a:ext>
            </a:extLst>
          </p:cNvPr>
          <p:cNvCxnSpPr>
            <a:cxnSpLocks/>
          </p:cNvCxnSpPr>
          <p:nvPr/>
        </p:nvCxnSpPr>
        <p:spPr>
          <a:xfrm>
            <a:off x="4194313" y="1096209"/>
            <a:ext cx="0" cy="567193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E0E3E91-367C-AAE9-A21B-9F83F8EB0EAD}"/>
              </a:ext>
            </a:extLst>
          </p:cNvPr>
          <p:cNvSpPr txBox="1"/>
          <p:nvPr/>
        </p:nvSpPr>
        <p:spPr>
          <a:xfrm>
            <a:off x="4424395" y="1428733"/>
            <a:ext cx="675198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Inflation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Headline inflation rose to 3.4% in September (from 2.5% in August). There upward trend in inflation has persisted since May – but has been managed below the NRBT reference rate of 5.0%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Foreign Reserves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Foreign reserves sit at a comfortable level of </a:t>
            </a:r>
            <a:r>
              <a:rPr lang="en-US" sz="1200" b="1" dirty="0"/>
              <a:t>$921 million </a:t>
            </a:r>
            <a:r>
              <a:rPr lang="en-US" sz="1200" dirty="0"/>
              <a:t>as of Sept 2025, equivalent to 10.7 months of import coverage, well above IMF’s recommended 7.5-month threshold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Remittances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Remittance rose by $52.2 million for the month of August. This was mainly from higher private transfers, employee compensation, and social benefits.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Imports and Exports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Tonga recorded a trade deficit of T$161.1m in Q2 of 2025 – which is a T$10m decline from the previous quarter. This was due to a reduction of imports (by 4.6%) and an increase in exports (by 40.9%). The main import goods are Prepared food stuff, Tobacco and spirits (worth T$27m) whilst the main exports were vegetable products (worth T$3.3m).</a:t>
            </a:r>
          </a:p>
        </p:txBody>
      </p:sp>
      <p:pic>
        <p:nvPicPr>
          <p:cNvPr id="14" name="Picture 13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E44B2397-3B55-AFF6-CDDC-DECC08068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271" y="976387"/>
            <a:ext cx="2768894" cy="1484263"/>
          </a:xfrm>
          <a:prstGeom prst="rect">
            <a:avLst/>
          </a:prstGeom>
        </p:spPr>
      </p:pic>
      <p:pic>
        <p:nvPicPr>
          <p:cNvPr id="16" name="Picture 15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D97614BB-A1F5-AF31-8A81-0CDF36A2C4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29" y="2460650"/>
            <a:ext cx="2774954" cy="15440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FCC2A12-87FA-3BEA-0F5E-83FE40C97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98" y="5674803"/>
            <a:ext cx="3886735" cy="108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9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204BE-E1AB-D3F5-EF9A-98BB6FE20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572E16-D515-7E4E-8A1E-A515485F8B04}"/>
              </a:ext>
            </a:extLst>
          </p:cNvPr>
          <p:cNvSpPr/>
          <p:nvPr/>
        </p:nvSpPr>
        <p:spPr>
          <a:xfrm>
            <a:off x="0" y="1"/>
            <a:ext cx="12192000" cy="976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2BC2B-9F80-0387-175E-835927527C08}"/>
              </a:ext>
            </a:extLst>
          </p:cNvPr>
          <p:cNvSpPr txBox="1"/>
          <p:nvPr/>
        </p:nvSpPr>
        <p:spPr>
          <a:xfrm>
            <a:off x="33131" y="133196"/>
            <a:ext cx="12092608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Protection Programs</a:t>
            </a:r>
            <a:endParaRPr lang="en-TO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6D6E35-3DDD-1480-1334-03E6E0F113EB}"/>
              </a:ext>
            </a:extLst>
          </p:cNvPr>
          <p:cNvCxnSpPr>
            <a:cxnSpLocks/>
          </p:cNvCxnSpPr>
          <p:nvPr/>
        </p:nvCxnSpPr>
        <p:spPr>
          <a:xfrm>
            <a:off x="499353" y="-330135"/>
            <a:ext cx="116012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4E0731E-7C13-2140-D4DD-BC3BC0365EBB}"/>
              </a:ext>
            </a:extLst>
          </p:cNvPr>
          <p:cNvSpPr txBox="1"/>
          <p:nvPr/>
        </p:nvSpPr>
        <p:spPr>
          <a:xfrm>
            <a:off x="33131" y="1251073"/>
            <a:ext cx="89814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5810" lvl="1" indent="-400050">
              <a:buAutoNum type="romanLcPeriod"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Welfare Scheme (SWS</a:t>
            </a:r>
            <a:r>
              <a:rPr lang="en-US" sz="1600" b="1" u="sng" dirty="0"/>
              <a:t>)</a:t>
            </a:r>
          </a:p>
          <a:p>
            <a:pPr marL="765810" lvl="1" indent="-400050">
              <a:buAutoNum type="romanLcPeriod"/>
            </a:pPr>
            <a:endParaRPr lang="en-US" sz="1600" b="1" u="sng" dirty="0"/>
          </a:p>
          <a:p>
            <a:pPr marL="765810" lvl="1" indent="-400050">
              <a:buAutoNum type="romanLcPeriod"/>
            </a:pPr>
            <a:endParaRPr lang="en-US" sz="1600" b="1" u="sng" dirty="0"/>
          </a:p>
          <a:p>
            <a:pPr marL="765810" lvl="1" indent="-400050">
              <a:buAutoNum type="romanLcPeriod"/>
            </a:pPr>
            <a:endParaRPr lang="en-US" sz="1600" b="1" u="sng" dirty="0"/>
          </a:p>
          <a:p>
            <a:pPr marL="365760" lvl="1" indent="0">
              <a:buNone/>
            </a:pPr>
            <a:endParaRPr lang="en-US" sz="1600" b="1" u="sng" dirty="0"/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867513BA-AF64-E6CA-7804-117C0EE13559}"/>
              </a:ext>
            </a:extLst>
          </p:cNvPr>
          <p:cNvSpPr>
            <a:spLocks noGrp="1"/>
          </p:cNvSpPr>
          <p:nvPr/>
        </p:nvSpPr>
        <p:spPr>
          <a:xfrm>
            <a:off x="-80175" y="3871457"/>
            <a:ext cx="11795760" cy="533628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lvl="1" indent="0"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Disability Welfare Scheme (DWS</a:t>
            </a:r>
            <a:r>
              <a:rPr lang="en-US" sz="1600" b="1" u="sng" dirty="0"/>
              <a:t>)</a:t>
            </a:r>
          </a:p>
          <a:p>
            <a:pPr marL="365760" lvl="1" indent="0">
              <a:buNone/>
            </a:pPr>
            <a:endParaRPr lang="en-US" sz="1600" b="1" u="sng" dirty="0"/>
          </a:p>
          <a:p>
            <a:pPr marL="365760" lvl="1" indent="0">
              <a:buNone/>
            </a:pPr>
            <a:endParaRPr lang="en-US" sz="1600" b="1" u="sng" dirty="0"/>
          </a:p>
          <a:p>
            <a:pPr marL="765810" lvl="1" indent="-400050">
              <a:buAutoNum type="romanLcPeriod"/>
            </a:pPr>
            <a:endParaRPr lang="en-US" sz="1600" b="1" u="sng" dirty="0"/>
          </a:p>
          <a:p>
            <a:pPr marL="765810" lvl="1" indent="-400050">
              <a:buAutoNum type="romanLcPeriod"/>
            </a:pPr>
            <a:endParaRPr lang="en-US" sz="1600" b="1" u="sng" dirty="0"/>
          </a:p>
          <a:p>
            <a:pPr marL="765810" lvl="1" indent="-400050">
              <a:buAutoNum type="romanLcPeriod"/>
            </a:pPr>
            <a:endParaRPr lang="en-US" sz="1600" b="1" u="sng" dirty="0"/>
          </a:p>
          <a:p>
            <a:pPr marL="365760" lvl="1" indent="0" defTabSz="685800" eaLnBrk="0" hangingPunct="0">
              <a:buNone/>
              <a:defRPr/>
            </a:pPr>
            <a:endParaRPr lang="en-US" altLang="en-TO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0073" lvl="1" indent="-214313" defTabSz="685800" eaLnBrk="0" hangingPunct="0">
              <a:buFont typeface="Wingdings" panose="05000000000000000000" pitchFamily="2" charset="2"/>
              <a:buChar char="Ø"/>
              <a:defRPr/>
            </a:pPr>
            <a:endParaRPr lang="en-TO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6AC969-3D21-0110-37C1-2F17E8DA109E}"/>
              </a:ext>
            </a:extLst>
          </p:cNvPr>
          <p:cNvSpPr txBox="1"/>
          <p:nvPr/>
        </p:nvSpPr>
        <p:spPr>
          <a:xfrm>
            <a:off x="6520069" y="1598628"/>
            <a:ext cx="61523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5151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TO" altLang="en-TO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TO" altLang="en-TO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en-US" altLang="en-TO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TO" altLang="en-TO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00+ elderly individuals</a:t>
            </a:r>
            <a:r>
              <a:rPr lang="en-TO" altLang="en-TO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Tonga</a:t>
            </a:r>
            <a:endParaRPr lang="en-US" altLang="en-TO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151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TO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Expansion</a:t>
            </a:r>
            <a:r>
              <a:rPr lang="en-US" altLang="en-TO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Eligibility: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TO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: Age eligibility reduced to 66 years (FY 2026)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TO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TO" altLang="en-T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Eligibility</a:t>
            </a:r>
            <a:r>
              <a:rPr lang="en-US" altLang="en-T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TO" altLang="en-T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Process</a:t>
            </a:r>
            <a:r>
              <a:rPr lang="en-TO" altLang="en-TO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TO" altLang="en-TO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 become eligible upon reaching the official age.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Lodge application with NRFB using form and valid ID</a:t>
            </a:r>
            <a:endParaRPr lang="en-TO" altLang="en-TO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45618F-6855-022C-7259-3A02A4345E26}"/>
              </a:ext>
            </a:extLst>
          </p:cNvPr>
          <p:cNvSpPr txBox="1"/>
          <p:nvPr/>
        </p:nvSpPr>
        <p:spPr>
          <a:xfrm>
            <a:off x="6520069" y="4460990"/>
            <a:ext cx="56719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0073" lvl="1" indent="-214313" defTabSz="685800" eaLnBrk="0" hangingPunct="0">
              <a:buFont typeface="Wingdings" panose="05000000000000000000" pitchFamily="2" charset="2"/>
              <a:buChar char="Ø"/>
              <a:defRPr/>
            </a:pPr>
            <a:r>
              <a:rPr lang="en-TO" altLang="en-TO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Assists approximately </a:t>
            </a:r>
            <a:r>
              <a:rPr lang="en-TO" altLang="en-TO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en-TO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100+</a:t>
            </a:r>
            <a:r>
              <a:rPr lang="en-TO" altLang="en-TO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persons with disabilities</a:t>
            </a:r>
            <a:endParaRPr lang="en-US" altLang="en-TO" sz="1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0073" lvl="1" indent="-214313" defTabSz="685800" eaLnBrk="0" hangingPunct="0">
              <a:buFont typeface="Wingdings" panose="05000000000000000000" pitchFamily="2" charset="2"/>
              <a:buChar char="Ø"/>
              <a:defRPr/>
            </a:pPr>
            <a:r>
              <a:rPr lang="en-TO" altLang="en-TO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support based on severity (1, 2, or 3 forms of disability)</a:t>
            </a:r>
            <a:endParaRPr lang="en-US" altLang="en-TO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0073" lvl="1" indent="-214313" defTabSz="685800" eaLnBrk="0" hangingPunct="0">
              <a:buFont typeface="Wingdings" panose="05000000000000000000" pitchFamily="2" charset="2"/>
              <a:buChar char="Ø"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Eligibility &amp; Application Process  : </a:t>
            </a:r>
          </a:p>
          <a:p>
            <a:pPr marL="811530" lvl="2" indent="-171450" defTabSz="685800" eaLnBrk="0" hangingPunct="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application form to MIA for verification, in collaboration with relevant authorities.</a:t>
            </a:r>
          </a:p>
          <a:p>
            <a:pPr marL="640080" lvl="2" indent="0" defTabSz="685800" eaLnBrk="0" hangingPunct="0">
              <a:buNone/>
              <a:defRPr/>
            </a:pPr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TO" sz="1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lvl="1" indent="0" defTabSz="685800">
              <a:buNone/>
            </a:pPr>
            <a:endParaRPr lang="en-TO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1C0336B-2020-AB6E-C281-5FE5E5009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809226"/>
              </p:ext>
            </p:extLst>
          </p:nvPr>
        </p:nvGraphicFramePr>
        <p:xfrm>
          <a:off x="881290" y="1717072"/>
          <a:ext cx="541866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040636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10710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Beneficiary Group</a:t>
                      </a:r>
                      <a:endParaRPr lang="en-T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FY2026</a:t>
                      </a:r>
                      <a:endParaRPr lang="en-T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387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Elderly (67-79 yrs)</a:t>
                      </a:r>
                      <a:endParaRPr lang="en-T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$100/month</a:t>
                      </a:r>
                      <a:endParaRPr lang="en-T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842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Elderly (80+ yrs)</a:t>
                      </a:r>
                      <a:endParaRPr lang="en-T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$120/month</a:t>
                      </a:r>
                      <a:endParaRPr lang="en-T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422970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C460FA0-8BA4-3A6B-23C3-82B603502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693630"/>
              </p:ext>
            </p:extLst>
          </p:nvPr>
        </p:nvGraphicFramePr>
        <p:xfrm>
          <a:off x="881290" y="4252940"/>
          <a:ext cx="541866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040636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10710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Beneficiary Group</a:t>
                      </a:r>
                      <a:endParaRPr lang="en-T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FY2026</a:t>
                      </a:r>
                      <a:endParaRPr lang="en-T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387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Disabled (1 form)</a:t>
                      </a:r>
                      <a:endParaRPr lang="en-T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$70/month</a:t>
                      </a:r>
                      <a:endParaRPr lang="en-T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842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Disabled (2 forms)</a:t>
                      </a:r>
                      <a:endParaRPr lang="en-T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$100/month</a:t>
                      </a:r>
                      <a:endParaRPr lang="en-T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422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Disabled (3 forms)</a:t>
                      </a:r>
                      <a:endParaRPr lang="en-T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$120/month</a:t>
                      </a:r>
                      <a:endParaRPr lang="en-T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124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845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4406</TotalTime>
  <Words>548</Words>
  <Application>Microsoft Office PowerPoint</Application>
  <PresentationFormat>Widescreen</PresentationFormat>
  <Paragraphs>78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Moeaki</dc:creator>
  <cp:lastModifiedBy>Antonio Moeaki</cp:lastModifiedBy>
  <cp:revision>4</cp:revision>
  <dcterms:created xsi:type="dcterms:W3CDTF">2025-11-20T20:42:06Z</dcterms:created>
  <dcterms:modified xsi:type="dcterms:W3CDTF">2025-11-23T22:08:07Z</dcterms:modified>
</cp:coreProperties>
</file>