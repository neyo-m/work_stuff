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4" r:id="rId2"/>
    <p:sldId id="311" r:id="rId3"/>
    <p:sldId id="316" r:id="rId4"/>
    <p:sldId id="326" r:id="rId5"/>
    <p:sldId id="314" r:id="rId6"/>
    <p:sldId id="327" r:id="rId7"/>
    <p:sldId id="312" r:id="rId8"/>
    <p:sldId id="328" r:id="rId9"/>
    <p:sldId id="315" r:id="rId10"/>
    <p:sldId id="331" r:id="rId11"/>
    <p:sldId id="325" r:id="rId12"/>
    <p:sldId id="329" r:id="rId13"/>
    <p:sldId id="330" r:id="rId14"/>
  </p:sldIdLst>
  <p:sldSz cx="12192000" cy="6858000"/>
  <p:notesSz cx="6858000" cy="9144000"/>
  <p:defaultTextStyle>
    <a:defPPr>
      <a:defRPr lang="en-T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2EA84D-9990-45A8-8057-D9D611621727}">
          <p14:sldIdLst>
            <p14:sldId id="284"/>
            <p14:sldId id="311"/>
            <p14:sldId id="316"/>
          </p14:sldIdLst>
        </p14:section>
        <p14:section name="Budet Slides" id="{27F41C11-472F-4EDB-B9E3-F27A7573AF70}">
          <p14:sldIdLst>
            <p14:sldId id="326"/>
            <p14:sldId id="314"/>
            <p14:sldId id="327"/>
            <p14:sldId id="312"/>
            <p14:sldId id="328"/>
          </p14:sldIdLst>
        </p14:section>
        <p14:section name="Development Slides" id="{CEDF9FAD-413A-473C-B9A5-FDEEF94970E6}">
          <p14:sldIdLst>
            <p14:sldId id="315"/>
            <p14:sldId id="331"/>
          </p14:sldIdLst>
        </p14:section>
        <p14:section name="Fiscal Position" id="{F2968DBA-BE74-41C6-A166-15282784049D}">
          <p14:sldIdLst>
            <p14:sldId id="325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3E7"/>
    <a:srgbClr val="FFFFFF"/>
    <a:srgbClr val="703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93447" autoAdjust="0"/>
  </p:normalViewPr>
  <p:slideViewPr>
    <p:cSldViewPr snapToGrid="0">
      <p:cViewPr varScale="1">
        <p:scale>
          <a:sx n="85" d="100"/>
          <a:sy n="85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72EA-F304-4965-84C5-813630A114F1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C2E1E-8A18-4093-85A4-FE2CFC221FB5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67650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C2E1E-8A18-4093-85A4-FE2CFC221FB5}" type="slidenum">
              <a:rPr lang="en-TO" smtClean="0"/>
              <a:t>1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65780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68FC-96BF-93CA-CE1E-3C26B1080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DF562-13EE-0E51-474A-ADD2D7FF6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EAA75-EEC2-2C20-F786-B443BA51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970CF-1A24-B957-2A2E-BF5ADF0D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42144-C4E1-5DD1-B9CA-74F934FF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76149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6BC5-88D5-7E95-C0BD-5BCC26F7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6C8E-AE32-278D-11E6-4970F6570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8DD6-3E7C-1AE1-0C90-5206D813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FB3F7-ED58-48D9-83EB-B22BB4D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12361-0890-D0E9-2179-A6915EAF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6288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5025-2706-1E38-0B1D-D5355DDA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BF8B5-95BE-AAAF-5BDB-22126B5F1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78B10-4BA2-9E09-2BD6-0949CDBB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E4B97-E1C1-3D7F-F85E-DB94E124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3FFEA-5EFE-399C-E560-7B896E18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01950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0F58-F39C-A4B9-84AA-B6A8C39C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B8DC4-B9FF-B027-3032-3FC2706DC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3DE13-9FF4-ED29-09B8-07BE6305C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4C77D-5F38-790C-B3E8-DF2F5F7E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BA7D2-7F8F-26BD-B9B5-51DF999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645C3-8029-42D8-85FB-950CDBA2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87695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DF2B-A9DA-ACD9-9235-3D40F7ED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0386C-AF05-3F4C-84A3-01DF3C722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21EB-9093-AC27-0106-B8BF40227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6BB0F-3084-59B4-9D16-E9863C0F5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CD856-5E6A-6FB0-945C-F69FDF933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0B165-DB82-AD87-BD95-47E09722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C078F-71D9-12AA-7AA4-E74F5016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F8646-7ECA-6607-E99F-38C1A7B2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29173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A8B6-F4D5-2503-55D7-6EC7815A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6475A-0291-54DB-9417-68AB67F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157CA-F74F-1504-7857-4AC39351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D1DF2-C7CD-1481-EB41-115B9F75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97123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D3D1F-9DE6-EDF4-AA56-ACCA2CCC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81681-0695-89C5-F85A-7513B62B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3681A-5A56-55FD-5E1A-4B5D7422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83807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1D8A-705E-8266-D76E-8A8EA446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6FA96-35D0-79F5-B15F-770FB8A72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610CD-166D-54AE-EAE1-3D858BC90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F4E77-3E6C-AD53-6963-783A291C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855F4-7A24-BF50-D441-333E7B61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E6FD-6C38-4D98-82D5-307E07DA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88777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A095-4D9A-01B8-A1A2-CFFBC4C2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71028-EEAD-862B-9CDD-59F110B97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D5D0D-6850-B28D-3F3A-35B789B6D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8B9AD-44AD-1DEB-EA86-B793C5E1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E93AB-2C9B-733E-E52A-088FA521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D6441-03FF-BA0C-341E-6598618B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407313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BF60-79E6-2602-9BBC-766AB979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F363F-618F-B1B4-8471-D0A6183F0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4A3C0-5A43-F628-DC7A-FD4800D5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605B5-569F-912D-BE6A-D1FA7445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E917C-E3EE-8C19-CF82-785FC2DB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99857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B09E4-7EEE-3AFD-EE6B-C4BE2468E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59A9A-63FA-E97D-7F87-1A3C6C119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17631-FDBF-7005-E44E-F705F6A7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4D3C0-BAF3-A4A2-74CB-B57F7399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6BE79-4D27-33E0-8DD9-A6E637C9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1188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F71F6-8E2C-107D-368B-84178B0C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907AB-A864-623B-4346-BDAF65D12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310E-0ED3-C273-FAF9-D5E8E973E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E9A02-3A9C-49E8-B15A-453E6F0CE8B3}" type="datetimeFigureOut">
              <a:rPr lang="en-TO" smtClean="0"/>
              <a:t>24/04/2026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BB4B7-9BCA-94C6-9F2A-532DCD618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1095F-B524-5D00-5724-FA2BB586A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741DF-E631-447F-BE5A-5666125A4491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13160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53A9A238-BD6D-461D-2A60-728DBBC102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"/>
          </a:blip>
          <a:srcRect t="29905" r="18193" b="26354"/>
          <a:stretch>
            <a:fillRect/>
          </a:stretch>
        </p:blipFill>
        <p:spPr>
          <a:xfrm>
            <a:off x="1914244" y="1770822"/>
            <a:ext cx="9490167" cy="26066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5B4A0B-C254-FC01-09C1-E2E06DB8C7D6}"/>
              </a:ext>
            </a:extLst>
          </p:cNvPr>
          <p:cNvSpPr txBox="1"/>
          <p:nvPr/>
        </p:nvSpPr>
        <p:spPr>
          <a:xfrm>
            <a:off x="1203985" y="361657"/>
            <a:ext cx="78114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Budget Estimates &amp; Statement</a:t>
            </a:r>
          </a:p>
          <a:p>
            <a:br>
              <a:rPr lang="en-US" sz="3200" b="1" dirty="0">
                <a:solidFill>
                  <a:srgbClr val="002060"/>
                </a:solidFill>
              </a:rPr>
            </a:br>
            <a:endParaRPr lang="en-TO" sz="3200" b="1" dirty="0">
              <a:solidFill>
                <a:srgbClr val="002060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8EE79F3-7687-BF4E-0690-A1E733CE310C}"/>
              </a:ext>
            </a:extLst>
          </p:cNvPr>
          <p:cNvSpPr/>
          <p:nvPr/>
        </p:nvSpPr>
        <p:spPr>
          <a:xfrm rot="16200000">
            <a:off x="5627184" y="293183"/>
            <a:ext cx="5984761" cy="7144872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805C1F-B5B1-BBD0-AE9C-3E10B513D53F}"/>
              </a:ext>
            </a:extLst>
          </p:cNvPr>
          <p:cNvGrpSpPr/>
          <p:nvPr/>
        </p:nvGrpSpPr>
        <p:grpSpPr>
          <a:xfrm>
            <a:off x="2394048" y="5863840"/>
            <a:ext cx="977158" cy="80682"/>
            <a:chOff x="2501153" y="5796643"/>
            <a:chExt cx="977158" cy="8068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309FB3-1F34-9553-A569-775DE13E6AF4}"/>
                </a:ext>
              </a:extLst>
            </p:cNvPr>
            <p:cNvSpPr/>
            <p:nvPr/>
          </p:nvSpPr>
          <p:spPr>
            <a:xfrm>
              <a:off x="3406593" y="5796643"/>
              <a:ext cx="71718" cy="80682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DD57CF-1B24-2040-5BF4-A2FB0C6B1001}"/>
                </a:ext>
              </a:extLst>
            </p:cNvPr>
            <p:cNvGrpSpPr/>
            <p:nvPr/>
          </p:nvGrpSpPr>
          <p:grpSpPr>
            <a:xfrm>
              <a:off x="2501153" y="5796643"/>
              <a:ext cx="744072" cy="80682"/>
              <a:chOff x="2277035" y="3200400"/>
              <a:chExt cx="744072" cy="80682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200A25A-9FC0-61B0-F880-58FEA2539DA6}"/>
                  </a:ext>
                </a:extLst>
              </p:cNvPr>
              <p:cNvSpPr/>
              <p:nvPr/>
            </p:nvSpPr>
            <p:spPr>
              <a:xfrm>
                <a:off x="2277035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0F3A1E8-FF8B-E178-5FCF-DD933BE72F02}"/>
                  </a:ext>
                </a:extLst>
              </p:cNvPr>
              <p:cNvSpPr/>
              <p:nvPr/>
            </p:nvSpPr>
            <p:spPr>
              <a:xfrm>
                <a:off x="2501153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1B5D2BD-B770-D18D-EE77-EC22B195794B}"/>
                  </a:ext>
                </a:extLst>
              </p:cNvPr>
              <p:cNvSpPr/>
              <p:nvPr/>
            </p:nvSpPr>
            <p:spPr>
              <a:xfrm>
                <a:off x="2725271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0D5A439-551D-AFAB-2579-090AAE710E9E}"/>
                  </a:ext>
                </a:extLst>
              </p:cNvPr>
              <p:cNvSpPr/>
              <p:nvPr/>
            </p:nvSpPr>
            <p:spPr>
              <a:xfrm>
                <a:off x="2949389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6F8643-F907-2B5B-8C44-79925F28E7F5}"/>
              </a:ext>
            </a:extLst>
          </p:cNvPr>
          <p:cNvGrpSpPr/>
          <p:nvPr/>
        </p:nvGrpSpPr>
        <p:grpSpPr>
          <a:xfrm>
            <a:off x="2846768" y="5657652"/>
            <a:ext cx="977158" cy="80682"/>
            <a:chOff x="2501153" y="5796643"/>
            <a:chExt cx="977158" cy="8068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A0A720C-A9E0-F65F-F772-555F1206E311}"/>
                </a:ext>
              </a:extLst>
            </p:cNvPr>
            <p:cNvSpPr/>
            <p:nvPr/>
          </p:nvSpPr>
          <p:spPr>
            <a:xfrm>
              <a:off x="3406593" y="5796643"/>
              <a:ext cx="71718" cy="80682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A05503-8B50-58F8-65FF-18BC5469F16C}"/>
                </a:ext>
              </a:extLst>
            </p:cNvPr>
            <p:cNvGrpSpPr/>
            <p:nvPr/>
          </p:nvGrpSpPr>
          <p:grpSpPr>
            <a:xfrm>
              <a:off x="2501153" y="5796643"/>
              <a:ext cx="744072" cy="80682"/>
              <a:chOff x="2277035" y="3200400"/>
              <a:chExt cx="744072" cy="8068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8DC5EE2-9444-9759-2246-0764962B3BEF}"/>
                  </a:ext>
                </a:extLst>
              </p:cNvPr>
              <p:cNvSpPr/>
              <p:nvPr/>
            </p:nvSpPr>
            <p:spPr>
              <a:xfrm>
                <a:off x="2277035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0B4A376-B020-167F-60CA-FA21D99C722C}"/>
                  </a:ext>
                </a:extLst>
              </p:cNvPr>
              <p:cNvSpPr/>
              <p:nvPr/>
            </p:nvSpPr>
            <p:spPr>
              <a:xfrm>
                <a:off x="2501153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F3627A-15B7-869C-570B-E4D7C686000E}"/>
                  </a:ext>
                </a:extLst>
              </p:cNvPr>
              <p:cNvSpPr/>
              <p:nvPr/>
            </p:nvSpPr>
            <p:spPr>
              <a:xfrm>
                <a:off x="2725271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789CEB9-76B7-3612-8390-DAE8DCEC5C6C}"/>
                  </a:ext>
                </a:extLst>
              </p:cNvPr>
              <p:cNvSpPr/>
              <p:nvPr/>
            </p:nvSpPr>
            <p:spPr>
              <a:xfrm>
                <a:off x="2949389" y="3200400"/>
                <a:ext cx="71718" cy="80682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O"/>
              </a:p>
            </p:txBody>
          </p:sp>
        </p:grpSp>
      </p:grp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763C6C03-9442-E0FD-CB29-64D3157C59EC}"/>
              </a:ext>
            </a:extLst>
          </p:cNvPr>
          <p:cNvSpPr/>
          <p:nvPr/>
        </p:nvSpPr>
        <p:spPr>
          <a:xfrm rot="19129779">
            <a:off x="6296660" y="4255323"/>
            <a:ext cx="3199043" cy="557241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D6FDC9C9-9923-C0EF-1E84-B00EEBD70462}"/>
              </a:ext>
            </a:extLst>
          </p:cNvPr>
          <p:cNvSpPr/>
          <p:nvPr/>
        </p:nvSpPr>
        <p:spPr>
          <a:xfrm rot="19129779">
            <a:off x="9556562" y="2996823"/>
            <a:ext cx="1027802" cy="333448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45A365C9-69B5-D310-F2E4-8F1E604054FD}"/>
              </a:ext>
            </a:extLst>
          </p:cNvPr>
          <p:cNvSpPr/>
          <p:nvPr/>
        </p:nvSpPr>
        <p:spPr>
          <a:xfrm rot="19129779">
            <a:off x="7406801" y="2522573"/>
            <a:ext cx="3199043" cy="6549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36" name="Flowchart: Terminator 35">
            <a:extLst>
              <a:ext uri="{FF2B5EF4-FFF2-40B4-BE49-F238E27FC236}">
                <a16:creationId xmlns:a16="http://schemas.microsoft.com/office/drawing/2014/main" id="{47BC54BC-1028-8FF6-E09E-E5FA9F407092}"/>
              </a:ext>
            </a:extLst>
          </p:cNvPr>
          <p:cNvSpPr/>
          <p:nvPr/>
        </p:nvSpPr>
        <p:spPr>
          <a:xfrm rot="19129779">
            <a:off x="6481025" y="4337693"/>
            <a:ext cx="1227117" cy="306555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586A5A-D538-A56D-7BD0-4DC82C8DE81C}"/>
              </a:ext>
            </a:extLst>
          </p:cNvPr>
          <p:cNvSpPr txBox="1"/>
          <p:nvPr/>
        </p:nvSpPr>
        <p:spPr>
          <a:xfrm>
            <a:off x="3328147" y="3248816"/>
            <a:ext cx="665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TO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DA78AF-276A-78CF-2C27-DC7EE0874BAC}"/>
              </a:ext>
            </a:extLst>
          </p:cNvPr>
          <p:cNvGrpSpPr/>
          <p:nvPr/>
        </p:nvGrpSpPr>
        <p:grpSpPr>
          <a:xfrm>
            <a:off x="6766388" y="1974772"/>
            <a:ext cx="3511368" cy="3543965"/>
            <a:chOff x="7798268" y="3267728"/>
            <a:chExt cx="3196674" cy="322173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8F64796-F55E-AC4D-CC15-8B3599A90123}"/>
                </a:ext>
              </a:extLst>
            </p:cNvPr>
            <p:cNvSpPr/>
            <p:nvPr/>
          </p:nvSpPr>
          <p:spPr>
            <a:xfrm>
              <a:off x="7798268" y="3267728"/>
              <a:ext cx="3196674" cy="32217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CE57327-C3F9-E86C-9A22-6FD042C87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7982" y="3417017"/>
              <a:ext cx="2937247" cy="2937247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561C179-96F4-5FE4-6B29-AA5DA2D16031}"/>
              </a:ext>
            </a:extLst>
          </p:cNvPr>
          <p:cNvSpPr txBox="1"/>
          <p:nvPr/>
        </p:nvSpPr>
        <p:spPr>
          <a:xfrm>
            <a:off x="3053443" y="3252498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TO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A8267E7-C04E-38CB-8B20-3FCEEC289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67" y="172129"/>
            <a:ext cx="766243" cy="85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DCE7F19-380F-834B-8D9B-E3D2BA8E2E25}"/>
              </a:ext>
            </a:extLst>
          </p:cNvPr>
          <p:cNvSpPr txBox="1"/>
          <p:nvPr/>
        </p:nvSpPr>
        <p:spPr>
          <a:xfrm>
            <a:off x="93171" y="6190050"/>
            <a:ext cx="6106884" cy="1192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Ministry of Finance </a:t>
            </a:r>
          </a:p>
          <a:p>
            <a:pPr algn="ctr"/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2026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/>
            </a:pPr>
            <a:br>
              <a:rPr lang="en-TO" sz="2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TO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Flowchart: Terminator 47">
            <a:extLst>
              <a:ext uri="{FF2B5EF4-FFF2-40B4-BE49-F238E27FC236}">
                <a16:creationId xmlns:a16="http://schemas.microsoft.com/office/drawing/2014/main" id="{4C0E61A5-0D44-4D2A-322F-F4115202FD5B}"/>
              </a:ext>
            </a:extLst>
          </p:cNvPr>
          <p:cNvSpPr/>
          <p:nvPr/>
        </p:nvSpPr>
        <p:spPr>
          <a:xfrm rot="19129779">
            <a:off x="7430275" y="5212062"/>
            <a:ext cx="950721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94E7D63-D84B-E00E-85F6-C490E1A12A6D}"/>
              </a:ext>
            </a:extLst>
          </p:cNvPr>
          <p:cNvSpPr/>
          <p:nvPr/>
        </p:nvSpPr>
        <p:spPr>
          <a:xfrm>
            <a:off x="5531217" y="3489134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041EF7-C739-5237-844A-FCCFB5FE5933}"/>
              </a:ext>
            </a:extLst>
          </p:cNvPr>
          <p:cNvSpPr txBox="1"/>
          <p:nvPr/>
        </p:nvSpPr>
        <p:spPr>
          <a:xfrm>
            <a:off x="3066402" y="3361305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TO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3E662E9-0D07-4E4D-5A6D-EA0DC4AC8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"/>
          </a:blip>
          <a:srcRect l="-34687" t="29359" r="57523" b="26899"/>
          <a:stretch>
            <a:fillRect/>
          </a:stretch>
        </p:blipFill>
        <p:spPr>
          <a:xfrm>
            <a:off x="-7042862" y="1740341"/>
            <a:ext cx="8951650" cy="2606683"/>
          </a:xfrm>
          <a:prstGeom prst="rect">
            <a:avLst/>
          </a:prstGeom>
        </p:spPr>
      </p:pic>
      <p:sp>
        <p:nvSpPr>
          <p:cNvPr id="1046" name="TextBox 1045">
            <a:extLst>
              <a:ext uri="{FF2B5EF4-FFF2-40B4-BE49-F238E27FC236}">
                <a16:creationId xmlns:a16="http://schemas.microsoft.com/office/drawing/2014/main" id="{E3FB4AB7-D8C2-47CC-B717-4DEBB37265B7}"/>
              </a:ext>
            </a:extLst>
          </p:cNvPr>
          <p:cNvSpPr txBox="1"/>
          <p:nvPr/>
        </p:nvSpPr>
        <p:spPr>
          <a:xfrm>
            <a:off x="448848" y="2123940"/>
            <a:ext cx="69072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“Accelerate delivery of vital Government initiatives to generate sustainable, inclusive growth.”</a:t>
            </a:r>
            <a:endParaRPr lang="en-TO" sz="32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91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4CBA-410A-8CA8-A458-4BA2322B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2AF16690-3AE3-BC11-7F91-5AA374AC5148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6E45A17D-D60E-EBC6-245F-CAD495C7A7FB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22A0C8-5BE1-D563-C860-0A4F2DA8A3FF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C2A22F7F-A9A4-3CBE-AFBA-10A82039998C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C8577F60-CCF6-E33C-89A0-F0B01DF99969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27EA24-2E0A-E858-88F2-91D9E40306E4}"/>
              </a:ext>
            </a:extLst>
          </p:cNvPr>
          <p:cNvSpPr txBox="1"/>
          <p:nvPr/>
        </p:nvSpPr>
        <p:spPr>
          <a:xfrm>
            <a:off x="343373" y="186978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Global Outlook</a:t>
            </a:r>
            <a:endParaRPr lang="en-TO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A2965-0939-198F-E725-3B17FE3115DA}"/>
              </a:ext>
            </a:extLst>
          </p:cNvPr>
          <p:cNvSpPr txBox="1"/>
          <p:nvPr/>
        </p:nvSpPr>
        <p:spPr>
          <a:xfrm>
            <a:off x="475129" y="757516"/>
            <a:ext cx="101928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The global economy is in a state of high uncertainty following the ongoing conflict in the Middle East and its impact on the energy markets.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The IMF projections assumes energy disruptions are temporary, and prices are expected to ease mid-2026 with global growth remaining stable at </a:t>
            </a:r>
            <a:r>
              <a:rPr lang="en-US" sz="1600" b="1" dirty="0"/>
              <a:t>3.1 </a:t>
            </a:r>
            <a:r>
              <a:rPr lang="en-US" sz="1600" dirty="0"/>
              <a:t>percent in 2026.</a:t>
            </a:r>
            <a:endParaRPr lang="en-TO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1A543-FB37-FF05-96AB-2DD120EAFC9C}"/>
              </a:ext>
            </a:extLst>
          </p:cNvPr>
          <p:cNvSpPr txBox="1"/>
          <p:nvPr/>
        </p:nvSpPr>
        <p:spPr>
          <a:xfrm>
            <a:off x="343373" y="1989620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Domestic outlook</a:t>
            </a:r>
            <a:endParaRPr lang="en-TO" sz="24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5679F-9BE4-C6DA-3A23-76E2121C4D19}"/>
              </a:ext>
            </a:extLst>
          </p:cNvPr>
          <p:cNvSpPr txBox="1"/>
          <p:nvPr/>
        </p:nvSpPr>
        <p:spPr>
          <a:xfrm>
            <a:off x="6400798" y="2856011"/>
            <a:ext cx="49690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Tonga’s economic growth forecast for FY2027 has been revised down to </a:t>
            </a:r>
            <a:r>
              <a:rPr lang="en-US" sz="1600" b="1" dirty="0"/>
              <a:t>1.9%</a:t>
            </a:r>
            <a:r>
              <a:rPr lang="en-US" sz="1600" dirty="0"/>
              <a:t>  compared to an earlier projection of </a:t>
            </a:r>
            <a:r>
              <a:rPr lang="en-US" sz="1600" b="1" dirty="0"/>
              <a:t>2.5%</a:t>
            </a:r>
            <a:r>
              <a:rPr lang="en-US" sz="1600" dirty="0"/>
              <a:t> - reflecting growing external pressures.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Over the medium term FY2027-FY2029, economic growth is expected to recover to an average of</a:t>
            </a:r>
            <a:r>
              <a:rPr lang="en-US" sz="1600" b="1" dirty="0"/>
              <a:t> 2.5%, </a:t>
            </a:r>
            <a:r>
              <a:rPr lang="en-US" sz="1600" dirty="0"/>
              <a:t>supported by accelerated project implementation, increased construction activity, and easing external price pressures.</a:t>
            </a: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TO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862749-3505-AF88-9B1C-6370CBC5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" y="2765955"/>
            <a:ext cx="5677265" cy="268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9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1C3DF-C66A-CB99-49D0-96AEA7EA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FC8FB4-1796-515A-028C-68265682CC12}"/>
              </a:ext>
            </a:extLst>
          </p:cNvPr>
          <p:cNvGrpSpPr/>
          <p:nvPr/>
        </p:nvGrpSpPr>
        <p:grpSpPr>
          <a:xfrm rot="5400000">
            <a:off x="9990951" y="4443610"/>
            <a:ext cx="2102931" cy="2934494"/>
            <a:chOff x="10232998" y="-328323"/>
            <a:chExt cx="2102931" cy="2934494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CCB0FE3C-160C-0FCB-7EFF-8B08FB319326}"/>
                </a:ext>
              </a:extLst>
            </p:cNvPr>
            <p:cNvSpPr/>
            <p:nvPr/>
          </p:nvSpPr>
          <p:spPr>
            <a:xfrm rot="10800000">
              <a:off x="10547703" y="-1"/>
              <a:ext cx="1644296" cy="1515035"/>
            </a:xfrm>
            <a:prstGeom prst="rt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2A1AD636-999D-6711-39EC-A7238A63AF76}"/>
                </a:ext>
              </a:extLst>
            </p:cNvPr>
            <p:cNvSpPr/>
            <p:nvPr/>
          </p:nvSpPr>
          <p:spPr>
            <a:xfrm rot="2700702">
              <a:off x="11553778" y="768055"/>
              <a:ext cx="1138396" cy="357102"/>
            </a:xfrm>
            <a:prstGeom prst="flowChartTermina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01D7591-ABCD-A751-7EC7-1206403A4B4F}"/>
                </a:ext>
              </a:extLst>
            </p:cNvPr>
            <p:cNvSpPr/>
            <p:nvPr/>
          </p:nvSpPr>
          <p:spPr>
            <a:xfrm>
              <a:off x="10403772" y="602499"/>
              <a:ext cx="1932157" cy="2003672"/>
            </a:xfrm>
            <a:prstGeom prst="ellipse">
              <a:avLst/>
            </a:prstGeom>
            <a:noFill/>
            <a:ln>
              <a:solidFill>
                <a:srgbClr val="FFFFFF">
                  <a:alpha val="43922"/>
                </a:srgb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7" name="Flowchart: Terminator 6">
              <a:extLst>
                <a:ext uri="{FF2B5EF4-FFF2-40B4-BE49-F238E27FC236}">
                  <a16:creationId xmlns:a16="http://schemas.microsoft.com/office/drawing/2014/main" id="{13ACFF20-E455-7642-717A-1B87443BC8F7}"/>
                </a:ext>
              </a:extLst>
            </p:cNvPr>
            <p:cNvSpPr/>
            <p:nvPr/>
          </p:nvSpPr>
          <p:spPr>
            <a:xfrm rot="2536426">
              <a:off x="10232998" y="212229"/>
              <a:ext cx="1227117" cy="206041"/>
            </a:xfrm>
            <a:prstGeom prst="flowChartTerminator">
              <a:avLst/>
            </a:prstGeom>
            <a:solidFill>
              <a:srgbClr val="6393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F8EEF334-720D-9641-2256-3E15C2283902}"/>
                </a:ext>
              </a:extLst>
            </p:cNvPr>
            <p:cNvSpPr/>
            <p:nvPr/>
          </p:nvSpPr>
          <p:spPr>
            <a:xfrm rot="2901893">
              <a:off x="10767151" y="-108031"/>
              <a:ext cx="571430" cy="130846"/>
            </a:xfrm>
            <a:prstGeom prst="flowChartTermina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9662BB1-0B0F-D3CE-7402-D1C555997964}"/>
              </a:ext>
            </a:extLst>
          </p:cNvPr>
          <p:cNvSpPr txBox="1"/>
          <p:nvPr/>
        </p:nvSpPr>
        <p:spPr>
          <a:xfrm>
            <a:off x="822148" y="4101018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Debt Portfolio Summary</a:t>
            </a:r>
            <a:endParaRPr lang="en-TO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9082D-0363-4BF7-39C3-A2AF775561C4}"/>
              </a:ext>
            </a:extLst>
          </p:cNvPr>
          <p:cNvSpPr txBox="1"/>
          <p:nvPr/>
        </p:nvSpPr>
        <p:spPr>
          <a:xfrm>
            <a:off x="492686" y="4700391"/>
            <a:ext cx="10687267" cy="1669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As at 30th June 2026, Tonga’s total disbursed outstanding public debt is projected at $406.2m, equivalent to 23.4 percent of GDP. External public debt is projected to decline by $2.9m by the end of June 2026, primarily due to the external debt repayments. Domestic debt repayments are fully offset by rollovers, with new issuance of Government Bond $30m anticipating being fully issued by end of June 2026.</a:t>
            </a:r>
            <a:endParaRPr lang="en-TO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2C084-8D10-0351-B683-DFC2856E1B76}"/>
              </a:ext>
            </a:extLst>
          </p:cNvPr>
          <p:cNvSpPr txBox="1"/>
          <p:nvPr/>
        </p:nvSpPr>
        <p:spPr>
          <a:xfrm>
            <a:off x="822148" y="186978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Fiscal Policy &amp; Status</a:t>
            </a:r>
            <a:endParaRPr lang="en-TO" sz="2400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F7E74F-F961-13ED-7FE8-451F4CD30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57" y="804204"/>
            <a:ext cx="7392428" cy="2521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27A7F2-039F-F7CF-813F-5E569A1BD8F6}"/>
              </a:ext>
            </a:extLst>
          </p:cNvPr>
          <p:cNvSpPr txBox="1"/>
          <p:nvPr/>
        </p:nvSpPr>
        <p:spPr>
          <a:xfrm>
            <a:off x="7724396" y="804204"/>
            <a:ext cx="41416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Government aims to maintain fiscal stability in the face of external shock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Revenue is projected to respond as risk of fluctuating external flow has heightened.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Expense is also projected to decline at a rate of -1 percent in the medium term to respond to revenue risk.</a:t>
            </a:r>
            <a:endParaRPr lang="en-TO" sz="1200" dirty="0"/>
          </a:p>
        </p:txBody>
      </p:sp>
    </p:spTree>
    <p:extLst>
      <p:ext uri="{BB962C8B-B14F-4D97-AF65-F5344CB8AC3E}">
        <p14:creationId xmlns:p14="http://schemas.microsoft.com/office/powerpoint/2010/main" val="3803163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ED4C-872D-5729-861C-AD58D14A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4E00B95D-FD73-F7C4-C446-4CC0320C4D93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6D51E790-5E68-E10E-628E-53A4F9B317E1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4E40FB-D236-B6F6-CC1E-14D9A2A64B7A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E644A8A2-AF5F-CD86-EC04-1B2AB1D50C9E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6B7ECEFA-51EF-ADA3-22FE-49A5AB63CE4E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3F4761-3BEE-5CCE-4B69-AAEEADD4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79"/>
          <a:stretch>
            <a:fillRect/>
          </a:stretch>
        </p:blipFill>
        <p:spPr bwMode="auto">
          <a:xfrm>
            <a:off x="2130374" y="1315938"/>
            <a:ext cx="6755727" cy="43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826C79-9E91-B7C6-CFEE-EA63C1BDADA1}"/>
              </a:ext>
            </a:extLst>
          </p:cNvPr>
          <p:cNvSpPr txBox="1"/>
          <p:nvPr/>
        </p:nvSpPr>
        <p:spPr>
          <a:xfrm>
            <a:off x="628422" y="946606"/>
            <a:ext cx="939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This is a summary of the Budget and its financing of the </a:t>
            </a:r>
            <a:r>
              <a:rPr lang="en-US" sz="1800" b="1" dirty="0"/>
              <a:t>budget deficit </a:t>
            </a:r>
            <a:r>
              <a:rPr lang="en-US" sz="1800" dirty="0"/>
              <a:t>of </a:t>
            </a:r>
            <a:r>
              <a:rPr lang="en-US" sz="1800" b="1" dirty="0"/>
              <a:t>$18 million</a:t>
            </a:r>
            <a:r>
              <a:rPr lang="en-US" sz="1800" dirty="0"/>
              <a:t>.</a:t>
            </a:r>
            <a:endParaRPr lang="en-TO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0AFAA-7910-9A51-31C7-8CA8353B2C1D}"/>
              </a:ext>
            </a:extLst>
          </p:cNvPr>
          <p:cNvSpPr txBox="1"/>
          <p:nvPr/>
        </p:nvSpPr>
        <p:spPr>
          <a:xfrm>
            <a:off x="546773" y="409865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Budget for the Medium Term (FY2027-FY2029)</a:t>
            </a:r>
            <a:endParaRPr lang="en-T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3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E629-7078-737E-50F3-73644DA0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27798C4-FA7A-5398-BE04-8C30E3E333D8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145C3388-CE10-4081-8B59-1CC50E1C1B22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0DCCDF-23AF-78C8-27B3-7350D0F82571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F602D315-0ECE-3B83-ADBE-544866AC9A12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FF8D59C1-8F9B-4629-5DD8-7C11DBAE5A2A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C13FB-E0CD-1208-658E-0B269F965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083" y="1018685"/>
            <a:ext cx="8187393" cy="5331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919C10-4FBA-0514-8089-AA67A82F7752}"/>
              </a:ext>
            </a:extLst>
          </p:cNvPr>
          <p:cNvSpPr txBox="1"/>
          <p:nvPr/>
        </p:nvSpPr>
        <p:spPr>
          <a:xfrm>
            <a:off x="388607" y="5073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Revenue by MDA:</a:t>
            </a:r>
            <a:endParaRPr lang="en-T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74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5D67-B9F2-C836-959A-F3A8AD60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0ED04480-97B7-43D5-C95E-FEFBECF4A923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5C688D9C-89F0-454F-1A70-DA6CF7CB9C10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A8741F-F4AE-6BEE-0418-991AF8510F35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D4D61B91-2985-DA6C-C238-8881BE07801C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96F7822-D77C-B1E8-DA2B-ED7F7AD7074C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E8CE4C-DA4D-56EE-87F1-5F1928ED5F35}"/>
              </a:ext>
            </a:extLst>
          </p:cNvPr>
          <p:cNvSpPr txBox="1"/>
          <p:nvPr/>
        </p:nvSpPr>
        <p:spPr>
          <a:xfrm>
            <a:off x="388607" y="5073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Revenue by category:</a:t>
            </a:r>
            <a:endParaRPr lang="en-TO" sz="2400" b="1" dirty="0">
              <a:solidFill>
                <a:srgbClr val="00206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F0084E-1403-9633-420C-176D2502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33941"/>
          <a:stretch>
            <a:fillRect/>
          </a:stretch>
        </p:blipFill>
        <p:spPr>
          <a:xfrm>
            <a:off x="1182480" y="1475401"/>
            <a:ext cx="9631664" cy="41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3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51EF-0B91-4161-0A17-3C77F5DB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DBCA016C-1F33-CE46-5F67-4F66D66DBAFA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4D4B27C-FBF7-96E3-882E-B7A754F51D73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9C6F32-4792-E387-B1FD-3DD1859592A6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666EA555-805A-617D-CE05-896F7D03E3B5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4953B47F-BD5D-347A-CC25-A62AD10E93F7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CA963-BE85-DEFD-14EA-EC758BDD67F9}"/>
              </a:ext>
            </a:extLst>
          </p:cNvPr>
          <p:cNvSpPr txBox="1"/>
          <p:nvPr/>
        </p:nvSpPr>
        <p:spPr>
          <a:xfrm>
            <a:off x="397572" y="2958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Expenditure by MDA:</a:t>
            </a:r>
            <a:endParaRPr lang="en-TO" sz="2400" b="1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5BB5B-FCDF-2980-E1DC-B48305DE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78" y="757516"/>
            <a:ext cx="9083341" cy="590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9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C4AF-9122-B775-6913-15F8A278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073BF4E2-B632-A6CC-88FD-8E92CD94C026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296AA567-28E4-8ECA-75CC-CC4F648AB61D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14B70E-6943-6A54-D447-FBC05A4611E2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C8EFD6E3-B9F6-BDDE-E8FC-E45E77265080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E0C119FD-ED31-91F6-F01F-D7BC55D4DAEA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FD5B1-E8C5-30A2-D150-2ECDA3BB78D9}"/>
              </a:ext>
            </a:extLst>
          </p:cNvPr>
          <p:cNvSpPr txBox="1"/>
          <p:nvPr/>
        </p:nvSpPr>
        <p:spPr>
          <a:xfrm>
            <a:off x="388607" y="5073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Expenditure by MDA:</a:t>
            </a:r>
            <a:endParaRPr lang="en-TO" sz="2400" b="1" dirty="0">
              <a:solidFill>
                <a:srgbClr val="00206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4C1BA3-1F70-7CF5-EFF8-4817451BA091}"/>
              </a:ext>
            </a:extLst>
          </p:cNvPr>
          <p:cNvGrpSpPr/>
          <p:nvPr/>
        </p:nvGrpSpPr>
        <p:grpSpPr>
          <a:xfrm>
            <a:off x="1535996" y="1806048"/>
            <a:ext cx="8145887" cy="3007999"/>
            <a:chOff x="2130373" y="3658086"/>
            <a:chExt cx="6755728" cy="17160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2CD6247-FF66-A84D-59B9-EAAB9F3C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820" b="22598"/>
            <a:stretch>
              <a:fillRect/>
            </a:stretch>
          </p:blipFill>
          <p:spPr bwMode="auto">
            <a:xfrm>
              <a:off x="2130374" y="4347411"/>
              <a:ext cx="6755727" cy="1026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0B8962-50C7-8178-A01B-74034133A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853"/>
            <a:stretch>
              <a:fillRect/>
            </a:stretch>
          </p:blipFill>
          <p:spPr bwMode="auto">
            <a:xfrm>
              <a:off x="2130373" y="3658086"/>
              <a:ext cx="6755727" cy="6893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3539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1620-2DFB-9FE0-F945-4709BE16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543C608A-1CBE-FE7D-9BC8-5EE90BA06991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FC6105B-703D-086E-2C67-367E2277A4E3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2358A4-BE81-539D-55DA-4EF3D0D99274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EDEFA384-AAC3-00F3-82AC-B86B2544B7FF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FD2E030D-B084-528F-C709-61A1FE93A588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B270C-7626-EEEC-5BB8-39445BA103D0}"/>
              </a:ext>
            </a:extLst>
          </p:cNvPr>
          <p:cNvSpPr txBox="1"/>
          <p:nvPr/>
        </p:nvSpPr>
        <p:spPr>
          <a:xfrm>
            <a:off x="388607" y="5073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Expenditure allocation by Ministry from Donor Fund:</a:t>
            </a:r>
            <a:endParaRPr lang="en-TO" sz="2400" b="1" dirty="0">
              <a:solidFill>
                <a:srgbClr val="00206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1538C3-45C0-9D73-CACD-18D51E187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79" y="1087551"/>
            <a:ext cx="9212982" cy="539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9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5D24-1F0F-6279-3F76-BCF195E2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83FEACCC-8F16-E9A9-09C8-45253C43E341}"/>
              </a:ext>
            </a:extLst>
          </p:cNvPr>
          <p:cNvSpPr/>
          <p:nvPr/>
        </p:nvSpPr>
        <p:spPr>
          <a:xfrm rot="10800000">
            <a:off x="10547703" y="-1"/>
            <a:ext cx="1644296" cy="1515035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34BBF0E4-27A9-3373-5D51-FCEBBB2789A5}"/>
              </a:ext>
            </a:extLst>
          </p:cNvPr>
          <p:cNvSpPr/>
          <p:nvPr/>
        </p:nvSpPr>
        <p:spPr>
          <a:xfrm rot="2700702">
            <a:off x="11553778" y="768055"/>
            <a:ext cx="1138396" cy="35710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A8A378-D8E2-F995-3480-C7BC9187F933}"/>
              </a:ext>
            </a:extLst>
          </p:cNvPr>
          <p:cNvSpPr/>
          <p:nvPr/>
        </p:nvSpPr>
        <p:spPr>
          <a:xfrm>
            <a:off x="10403772" y="602499"/>
            <a:ext cx="1932157" cy="2003672"/>
          </a:xfrm>
          <a:prstGeom prst="ellipse">
            <a:avLst/>
          </a:prstGeom>
          <a:noFill/>
          <a:ln>
            <a:solidFill>
              <a:srgbClr val="FFFFFF">
                <a:alpha val="43922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0A60892A-B676-A0DA-2A7B-C26FFC045AB3}"/>
              </a:ext>
            </a:extLst>
          </p:cNvPr>
          <p:cNvSpPr/>
          <p:nvPr/>
        </p:nvSpPr>
        <p:spPr>
          <a:xfrm rot="2536426">
            <a:off x="10232998" y="212229"/>
            <a:ext cx="1227117" cy="206041"/>
          </a:xfrm>
          <a:prstGeom prst="flowChartTerminator">
            <a:avLst/>
          </a:prstGeom>
          <a:solidFill>
            <a:srgbClr val="6393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B55130A9-7F36-84B8-A7B1-1F9E8706DB4A}"/>
              </a:ext>
            </a:extLst>
          </p:cNvPr>
          <p:cNvSpPr/>
          <p:nvPr/>
        </p:nvSpPr>
        <p:spPr>
          <a:xfrm rot="2901893">
            <a:off x="10767151" y="-108031"/>
            <a:ext cx="571430" cy="130846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04898-EC4B-1A0B-7CEA-687346A0545D}"/>
              </a:ext>
            </a:extLst>
          </p:cNvPr>
          <p:cNvSpPr txBox="1"/>
          <p:nvPr/>
        </p:nvSpPr>
        <p:spPr>
          <a:xfrm>
            <a:off x="388607" y="507351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Allocation by Location Donor Fund:</a:t>
            </a:r>
            <a:endParaRPr lang="en-TO" sz="2400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657700-955C-8E47-F4AA-C0B89971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16" y="1996309"/>
            <a:ext cx="11363767" cy="261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74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C352-AB63-44A5-A80F-11C13D38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FC7B9D5-56C9-BEB3-7100-7D44DE73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43" y="2489724"/>
            <a:ext cx="11056620" cy="38328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CEE027-E4C6-4D39-3B3F-F4725BACB040}"/>
              </a:ext>
            </a:extLst>
          </p:cNvPr>
          <p:cNvSpPr txBox="1"/>
          <p:nvPr/>
        </p:nvSpPr>
        <p:spPr>
          <a:xfrm>
            <a:off x="878541" y="822287"/>
            <a:ext cx="97356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To enhance fiscal resilience and ensure preparedness for emerging risk, 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The Government has identified financing options of </a:t>
            </a:r>
            <a:r>
              <a:rPr lang="en-US" sz="1800" b="1" dirty="0"/>
              <a:t>$49.6m</a:t>
            </a:r>
            <a:r>
              <a:rPr lang="en-US" sz="1800" dirty="0"/>
              <a:t> to support emergency response measures related to fuel disruptions and other unforeseen events – as detailed in </a:t>
            </a:r>
            <a:r>
              <a:rPr lang="en-US" sz="1800" i="1" dirty="0"/>
              <a:t>Table 1.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Other Donors – Amounts yet to be confirmed, pending national plans to be completed</a:t>
            </a:r>
            <a:endParaRPr lang="en-TO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B84A96-1E83-49DC-51E5-E1E462E07582}"/>
              </a:ext>
            </a:extLst>
          </p:cNvPr>
          <p:cNvSpPr txBox="1"/>
          <p:nvPr/>
        </p:nvSpPr>
        <p:spPr>
          <a:xfrm>
            <a:off x="477843" y="320663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Fuel &amp; Energy crisis response</a:t>
            </a:r>
            <a:endParaRPr lang="en-T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88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22EC-C155-5990-809C-32F4CA0B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FE8F8E4-8B1E-1244-520C-9AB7AB997C7D}"/>
              </a:ext>
            </a:extLst>
          </p:cNvPr>
          <p:cNvGrpSpPr/>
          <p:nvPr/>
        </p:nvGrpSpPr>
        <p:grpSpPr>
          <a:xfrm rot="5400000">
            <a:off x="9990951" y="4443610"/>
            <a:ext cx="2102931" cy="2934494"/>
            <a:chOff x="10232998" y="-328323"/>
            <a:chExt cx="2102931" cy="2934494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D3BAFC69-B000-0DEF-CED8-AB6CC68C4D31}"/>
                </a:ext>
              </a:extLst>
            </p:cNvPr>
            <p:cNvSpPr/>
            <p:nvPr/>
          </p:nvSpPr>
          <p:spPr>
            <a:xfrm rot="10800000">
              <a:off x="10547703" y="-1"/>
              <a:ext cx="1644296" cy="1515035"/>
            </a:xfrm>
            <a:prstGeom prst="rt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B7340847-DCFF-B6DA-6171-273BB8BF9AE7}"/>
                </a:ext>
              </a:extLst>
            </p:cNvPr>
            <p:cNvSpPr/>
            <p:nvPr/>
          </p:nvSpPr>
          <p:spPr>
            <a:xfrm rot="2700702">
              <a:off x="11553778" y="768055"/>
              <a:ext cx="1138396" cy="357102"/>
            </a:xfrm>
            <a:prstGeom prst="flowChartTermina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4D43ED-EB73-2D56-2D3F-CC8D96989A35}"/>
                </a:ext>
              </a:extLst>
            </p:cNvPr>
            <p:cNvSpPr/>
            <p:nvPr/>
          </p:nvSpPr>
          <p:spPr>
            <a:xfrm>
              <a:off x="10403772" y="602499"/>
              <a:ext cx="1932157" cy="2003672"/>
            </a:xfrm>
            <a:prstGeom prst="ellipse">
              <a:avLst/>
            </a:prstGeom>
            <a:noFill/>
            <a:ln>
              <a:solidFill>
                <a:srgbClr val="FFFFFF">
                  <a:alpha val="43922"/>
                </a:srgb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7" name="Flowchart: Terminator 6">
              <a:extLst>
                <a:ext uri="{FF2B5EF4-FFF2-40B4-BE49-F238E27FC236}">
                  <a16:creationId xmlns:a16="http://schemas.microsoft.com/office/drawing/2014/main" id="{47CFDCA1-75EB-184F-80B4-A4BFF8F34FCC}"/>
                </a:ext>
              </a:extLst>
            </p:cNvPr>
            <p:cNvSpPr/>
            <p:nvPr/>
          </p:nvSpPr>
          <p:spPr>
            <a:xfrm rot="2536426">
              <a:off x="10232998" y="212229"/>
              <a:ext cx="1227117" cy="206041"/>
            </a:xfrm>
            <a:prstGeom prst="flowChartTerminator">
              <a:avLst/>
            </a:prstGeom>
            <a:solidFill>
              <a:srgbClr val="6393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83FD9F67-F56D-DF4C-0A08-D0FF47A624E9}"/>
                </a:ext>
              </a:extLst>
            </p:cNvPr>
            <p:cNvSpPr/>
            <p:nvPr/>
          </p:nvSpPr>
          <p:spPr>
            <a:xfrm rot="2901893">
              <a:off x="10767151" y="-108031"/>
              <a:ext cx="571430" cy="130846"/>
            </a:xfrm>
            <a:prstGeom prst="flowChartTermina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O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7E80E1-584F-4077-49E5-AE97AABDFA23}"/>
              </a:ext>
            </a:extLst>
          </p:cNvPr>
          <p:cNvSpPr txBox="1"/>
          <p:nvPr/>
        </p:nvSpPr>
        <p:spPr>
          <a:xfrm>
            <a:off x="708211" y="1575115"/>
            <a:ext cx="97356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 the following recommendations are respectfully submitted for consideration by Hon Cabinet Ministers: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That the attached ‘Draft Budget Statement Summary’ and the Draft Budget Estimate total of </a:t>
            </a:r>
            <a:r>
              <a:rPr lang="en-US" b="1" dirty="0"/>
              <a:t>$953.3m, </a:t>
            </a:r>
            <a:r>
              <a:rPr lang="en-US" dirty="0"/>
              <a:t>comprising $582.1m recurrent and $371.2m development, be approved.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That the Appropriate Cash of </a:t>
            </a:r>
            <a:r>
              <a:rPr lang="en-US" b="1" dirty="0"/>
              <a:t>$740.7m </a:t>
            </a:r>
            <a:r>
              <a:rPr lang="en-US" dirty="0"/>
              <a:t>to the service of Government for FY2027, be noted.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That the proposed allocation to support the implementation of activities under each of the seven (7) strategic focus areas, be noted.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That the ‘Draft Budget Statement Summary and ‘Draft Budget Estimates FY2027 with the Appropriation Bill be submitted to the Legislative Assembly, be approved.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9F856-A6DF-D022-332F-FE261D25E489}"/>
              </a:ext>
            </a:extLst>
          </p:cNvPr>
          <p:cNvSpPr txBox="1"/>
          <p:nvPr/>
        </p:nvSpPr>
        <p:spPr>
          <a:xfrm>
            <a:off x="603349" y="517887"/>
            <a:ext cx="78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Recommendations</a:t>
            </a:r>
            <a:endParaRPr lang="en-T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49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C64246-4E2C-B4F4-DE2F-BD33E28F6656}"/>
              </a:ext>
            </a:extLst>
          </p:cNvPr>
          <p:cNvSpPr txBox="1"/>
          <p:nvPr/>
        </p:nvSpPr>
        <p:spPr>
          <a:xfrm>
            <a:off x="4267200" y="2545976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Malo ‘</a:t>
            </a:r>
            <a:r>
              <a:rPr lang="en-US" sz="4000" b="1" dirty="0" err="1"/>
              <a:t>aupito</a:t>
            </a:r>
            <a:endParaRPr lang="en-TO" sz="4000" b="1" dirty="0"/>
          </a:p>
        </p:txBody>
      </p:sp>
    </p:spTree>
    <p:extLst>
      <p:ext uri="{BB962C8B-B14F-4D97-AF65-F5344CB8AC3E}">
        <p14:creationId xmlns:p14="http://schemas.microsoft.com/office/powerpoint/2010/main" val="211893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20258</TotalTime>
  <Words>514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ADLaM Display</vt:lpstr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Crooks</dc:creator>
  <cp:lastModifiedBy>Antonio Moeaki</cp:lastModifiedBy>
  <cp:revision>37</cp:revision>
  <dcterms:created xsi:type="dcterms:W3CDTF">2025-06-23T22:08:14Z</dcterms:created>
  <dcterms:modified xsi:type="dcterms:W3CDTF">2026-04-28T06:27:45Z</dcterms:modified>
</cp:coreProperties>
</file>